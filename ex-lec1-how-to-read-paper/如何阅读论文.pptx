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312" r:id="rId15"/>
    <p:sldId id="313" r:id="rId16"/>
    <p:sldId id="270" r:id="rId17"/>
    <p:sldId id="271" r:id="rId18"/>
    <p:sldId id="272" r:id="rId19"/>
    <p:sldId id="295" r:id="rId20"/>
    <p:sldId id="31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08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129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开场：这节课不讲学术英语，也不讲如何逐句翻译。重点是研究者真正怎样读论文：先抓住问题和核心主张，再还原方法如何运行，最后检查证据到底能支持到哪里。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开场提问：AI 已经能检索、总结、解释公式，甚至帮忙写代码、提出研究方法，为什么还要自己读论文？这里不需要强调 AI 不能思考，而是强调科研阅读不等同于信息处理。真正的研究者需要主动核验问题的重要性、证据和自己的研究连接。过渡到下一页的五种阅读价值。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这一页重点是长期积累。很多时候读完 Paper 不会立刻想做一个课题；阅读是润物细无声的过程。读过的概念、方法、实验现象会慢慢在脑中产生联系。不要机械 follow，也不要把 reproduce 当作科研的全部。同时有两种合理的阅读方式：带着明确问题寻找最相关工作，或先被新技术吸引、过段时间再发现它与研究的联系。写作和表达也是阅读的重要收获：学习好的 paper 如何构造 motivation、引出研究问题、描述关键算法、呈现证据，并清晰解释 impact。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这里先纠正一个常见误解：读完不等于读懂。读懂的标准不是记住多少，而是能不能还原作者的研究过程、指出关键证据，并说明结论边界。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这里按刚才讨论的方式区分：研究问题放在 What；Why 只回答背景、价值和真实缺口。让学生先把 Gap 和 Problem 分开，再看作者的 Claim 与 Contribution。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三遍阅读法的核心不是重复读，而是每一遍有不同产出。第一遍可以停止；第二遍之后应该能讲清方法；第三遍才是面向审稿、复现或自己的研究问题。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这里要把“值得 Present”和“好 paper”区分开。一个高影响因子的 paper 如果只是远处的热点，可能不适合当前组会。一个方法并不成功的 paper，如果暴露了评测漏洞、因果归因问题、失败经验，反而值得组织批判性讨论。请学生把分享目标从“介绍论文”改成“让团队做出更好的研究判断”。一篇适合 Present 的 paper，通常能给出团队可讨论的观点、证据和下一步。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示范一下第一遍的阅读顺序：不必先读 Introduction 全文。先看摘要、主图、结论，知道作者想让我相信什么；然后再回到引言找缺口，最后才深入方法和实验。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让学生现场尝试写一句话。强迫自己补上问题、机制、任务、证据和边界，这会迅速暴露到底哪里没看懂。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本页强调：好的论文不只有 novelty。Well-motivated 是真实重要的问题；Very novel 是实质性的视角、问题或机制增量；Elegant 是设计干净而清晰；Well-executed 是公平对照、强基线、消融、失效分析做得扎实；Insightful 是给出解释和可迁移认识；Useful/Impactful 是为后续工作留下可用方法、数据或证据。不要强迫学生给所有维度打分，而是问：这篇的强项是什么？对应的直接证据是哪张图或哪个实验？可根据个人经验提到 BERT-NMT 的问题与设计、TamGen 的验证证据链，但这些只是教学中的解释角度。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讲解时给学生三个模拟的 Reviewer 句子，强调它们不是对某篇具体论文的判定。最重要的判断分两层：底线是 soundness 与 evidence，不能靠 novelty 补救重大技术或证据缺陷；长板是 motivation、novelty、execution、insight、impact 等至少一项有真正增量。先问“究竟贡献了什么”，再问“最关键证据能否成立”。最后让学生练习用两个形容词和一条证据描述最近读的论文，比如“well-motivated and well-executed; evidence comes from Table 2 and an ablation, but its generalization remains uncertain”。注意与组会选题区分：好 Paper 未必适合每次 Present；适合 Present 还看团队能从中获得什么。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最适合做导航、抽取和对照，不适合替你决定论文结论。要求 AI 标注原文位置，并明确区分事实、解释和待验证项。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这页可以直接作为学生的阅读记录模板。要求他们用自己的话填写，不要复制摘要；每个结论都尽量对应到具体图表、表格、附录或代码位置。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个人阅读经验：很多时候我只是因为兴趣，或从同事交流、社交平台、群里被 @、Dot 推荐中看到一个值得注意的新想法，就去看一篇论文。等到研究问题更明确，再从一篇种子论文开始，沿引用关系和作者、基线做系统检索。两种路径都重要。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517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4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28832" y="6510528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67085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algn="r"/>
            <a:fld id="{F7021451-1387-4CA6-816F-3879F97B5C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380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40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6629400" y="73152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6629400" y="128016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629400" y="182880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629400" y="237744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629400" y="292608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29400" y="347472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29400" y="402336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29400" y="457200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29400" y="512064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29400" y="5669280"/>
            <a:ext cx="4983480" cy="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94944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4672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59536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4400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9264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24128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78992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338560" y="731520"/>
            <a:ext cx="0" cy="5394960"/>
          </a:xfrm>
          <a:prstGeom prst="line">
            <a:avLst/>
          </a:prstGeom>
          <a:ln w="5715">
            <a:solidFill>
              <a:srgbClr val="24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94944" y="1033271"/>
            <a:ext cx="79552" cy="4334256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1645920"/>
            <a:ext cx="6492240" cy="9966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70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如何读</a:t>
            </a:r>
            <a:r>
              <a:rPr sz="47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 Paper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798064"/>
            <a:ext cx="5943600" cy="6126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dirty="0" err="1">
                <a:solidFill>
                  <a:srgbClr val="DCE9F7"/>
                </a:solidFill>
                <a:latin typeface="宋体" panose="02010600030101010101" pitchFamily="2" charset="-122"/>
              </a:rPr>
              <a:t>从理解作者故事，到核验研究价值</a:t>
            </a:r>
            <a:endParaRPr sz="2300" b="0" i="0" dirty="0">
              <a:solidFill>
                <a:srgbClr val="DCE9F7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7261" y="4166601"/>
            <a:ext cx="5486400" cy="1210071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AAC5DF"/>
                </a:solidFill>
                <a:latin typeface="宋体" panose="02010600030101010101" pitchFamily="2" charset="-122"/>
              </a:rPr>
              <a:t>夏应策</a:t>
            </a:r>
            <a:r>
              <a:rPr sz="1500" b="0" i="0" dirty="0">
                <a:solidFill>
                  <a:srgbClr val="AAC5DF"/>
                </a:solidFill>
                <a:latin typeface="宋体" panose="02010600030101010101" pitchFamily="2" charset="-122"/>
              </a:rPr>
              <a:t>  |  2026.10.28</a:t>
            </a:r>
            <a:endParaRPr lang="en-US" sz="1500" b="0" i="0" dirty="0">
              <a:solidFill>
                <a:srgbClr val="AAC5DF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500" dirty="0">
                <a:solidFill>
                  <a:srgbClr val="AAC5DF"/>
                </a:solidFill>
                <a:latin typeface="宋体" panose="02010600030101010101" pitchFamily="2" charset="-122"/>
              </a:rPr>
              <a:t>中关村学院 副教授</a:t>
            </a:r>
            <a:endParaRPr lang="en-US" altLang="zh-CN" sz="1500" dirty="0">
              <a:solidFill>
                <a:srgbClr val="AAC5DF"/>
              </a:solidFill>
              <a:latin typeface="宋体" panose="02010600030101010101" pitchFamily="2" charset="-122"/>
            </a:endParaRPr>
          </a:p>
          <a:p>
            <a:pPr>
              <a:lnSpc>
                <a:spcPct val="112000"/>
              </a:lnSpc>
            </a:pPr>
            <a:r>
              <a:rPr lang="en-US" sz="1500" dirty="0">
                <a:solidFill>
                  <a:srgbClr val="AAC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https://xyc1207.github.io/</a:t>
            </a:r>
            <a:endParaRPr lang="en-US" sz="1500" b="0" i="0" dirty="0">
              <a:solidFill>
                <a:srgbClr val="AAC5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AAC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Science</a:t>
            </a:r>
            <a:r>
              <a:rPr lang="zh-CN" altLang="en-US" sz="1500" dirty="0">
                <a:solidFill>
                  <a:srgbClr val="AAC5D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方向</a:t>
            </a:r>
            <a:endParaRPr sz="1500" b="0" i="0" dirty="0">
              <a:solidFill>
                <a:srgbClr val="AAC5D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92440" y="1261872"/>
            <a:ext cx="2971800" cy="4114800"/>
          </a:xfrm>
          <a:prstGeom prst="roundRect">
            <a:avLst>
              <a:gd name="adj" fmla="val 7000"/>
            </a:avLst>
          </a:prstGeom>
          <a:solidFill>
            <a:srgbClr val="234866"/>
          </a:solidFill>
          <a:ln w="10160">
            <a:solidFill>
              <a:srgbClr val="406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90688" y="1033271"/>
            <a:ext cx="3063240" cy="4206240"/>
          </a:xfrm>
          <a:prstGeom prst="roundRect">
            <a:avLst>
              <a:gd name="adj" fmla="val 9000"/>
            </a:avLst>
          </a:prstGeom>
          <a:solidFill>
            <a:srgbClr val="E9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434072" y="740664"/>
            <a:ext cx="3246120" cy="43525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17536" y="1051560"/>
            <a:ext cx="54864" cy="438912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1033271"/>
            <a:ext cx="1645920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RESEARCH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8392" y="1618488"/>
            <a:ext cx="2679192" cy="3291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60748B"/>
                </a:solidFill>
                <a:latin typeface="宋体" panose="02010600030101010101" pitchFamily="2" charset="-122"/>
              </a:rPr>
              <a:t>QUESTION  →  EVIDENCE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17536" y="1993392"/>
            <a:ext cx="2633472" cy="0"/>
          </a:xfrm>
          <a:prstGeom prst="line">
            <a:avLst/>
          </a:prstGeom>
          <a:ln w="1524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726679" y="2286000"/>
            <a:ext cx="2359152" cy="58521"/>
          </a:xfrm>
          <a:prstGeom prst="rect">
            <a:avLst/>
          </a:prstGeom>
          <a:solidFill>
            <a:srgbClr val="C9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726679" y="2615184"/>
            <a:ext cx="1993392" cy="58521"/>
          </a:xfrm>
          <a:prstGeom prst="rect">
            <a:avLst/>
          </a:prstGeom>
          <a:solidFill>
            <a:srgbClr val="C9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26679" y="2944368"/>
            <a:ext cx="2514600" cy="58521"/>
          </a:xfrm>
          <a:prstGeom prst="rect">
            <a:avLst/>
          </a:prstGeom>
          <a:solidFill>
            <a:srgbClr val="C9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726679" y="3273552"/>
            <a:ext cx="1481328" cy="58521"/>
          </a:xfrm>
          <a:prstGeom prst="rect">
            <a:avLst/>
          </a:prstGeom>
          <a:solidFill>
            <a:srgbClr val="C9D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73568" y="3941063"/>
            <a:ext cx="228600" cy="329184"/>
          </a:xfrm>
          <a:prstGeom prst="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85048" y="3694176"/>
            <a:ext cx="228600" cy="576072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796528" y="3822191"/>
            <a:ext cx="228600" cy="448056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208008" y="3502152"/>
            <a:ext cx="228600" cy="768096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619488" y="3639312"/>
            <a:ext cx="228600" cy="630936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7827264" y="4306824"/>
            <a:ext cx="2295144" cy="0"/>
          </a:xfrm>
          <a:prstGeom prst="line">
            <a:avLst/>
          </a:prstGeom>
          <a:ln w="10160">
            <a:solidFill>
              <a:srgbClr val="B2C2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763256" y="4599432"/>
            <a:ext cx="731520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IDEA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04504" y="4599432"/>
            <a:ext cx="868680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METHOD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64624" y="4599432"/>
            <a:ext cx="914400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EEA23A"/>
                </a:solidFill>
                <a:latin typeface="宋体" panose="02010600030101010101" pitchFamily="2" charset="-122"/>
              </a:rPr>
              <a:t>PROOF</a:t>
            </a:r>
          </a:p>
        </p:txBody>
      </p:sp>
      <p:sp>
        <p:nvSpPr>
          <p:cNvPr id="48" name="Oval 47"/>
          <p:cNvSpPr/>
          <p:nvPr/>
        </p:nvSpPr>
        <p:spPr>
          <a:xfrm>
            <a:off x="11059667" y="928116"/>
            <a:ext cx="192024" cy="192024"/>
          </a:xfrm>
          <a:prstGeom prst="ellipse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1324844" y="2446020"/>
            <a:ext cx="192024" cy="192024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1123676" y="3863339"/>
            <a:ext cx="192024" cy="192024"/>
          </a:xfrm>
          <a:prstGeom prst="ellipse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11155680" y="1024128"/>
            <a:ext cx="265176" cy="1517904"/>
          </a:xfrm>
          <a:prstGeom prst="line">
            <a:avLst/>
          </a:prstGeom>
          <a:ln w="15240">
            <a:solidFill>
              <a:srgbClr val="729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11219688" y="2542032"/>
            <a:ext cx="201168" cy="1417320"/>
          </a:xfrm>
          <a:prstGeom prst="line">
            <a:avLst/>
          </a:prstGeom>
          <a:ln w="15240">
            <a:solidFill>
              <a:srgbClr val="729F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READING / AI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为什么还要读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Paper？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02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536192"/>
            <a:ext cx="11109959" cy="5943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60" b="0" i="0" dirty="0">
                <a:solidFill>
                  <a:srgbClr val="60748B"/>
                </a:solidFill>
                <a:latin typeface="宋体" panose="02010600030101010101" pitchFamily="2" charset="-122"/>
              </a:rPr>
              <a:t>AI </a:t>
            </a:r>
            <a:r>
              <a:rPr sz="17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已经可以帮我们检索文献、总结论文、解释公式、生成代码，甚至提出新的方法</a:t>
            </a:r>
            <a:r>
              <a:rPr sz="176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368296"/>
            <a:ext cx="4663440" cy="3090672"/>
          </a:xfrm>
          <a:prstGeom prst="roundRect">
            <a:avLst>
              <a:gd name="adj" fmla="val 7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96696" y="2633472"/>
            <a:ext cx="1051560" cy="292608"/>
          </a:xfrm>
          <a:prstGeom prst="roundRect">
            <a:avLst>
              <a:gd name="adj" fmla="val 20000"/>
            </a:avLst>
          </a:prstGeom>
          <a:solidFill>
            <a:srgbClr val="344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2646273"/>
            <a:ext cx="905255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EEA23A"/>
                </a:solidFill>
                <a:latin typeface="宋体" panose="02010600030101010101" pitchFamily="2" charset="-122"/>
              </a:rPr>
              <a:t>核心问题</a:t>
            </a:r>
            <a:endParaRPr sz="1200" b="1" i="0" dirty="0">
              <a:solidFill>
                <a:srgbClr val="EEA23A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14984" y="3182112"/>
            <a:ext cx="4151376" cy="121615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信息处理更快</a:t>
            </a:r>
            <a:r>
              <a:rPr sz="30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科研判断更重要</a:t>
            </a:r>
            <a:r>
              <a:rPr sz="30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14416" y="2313432"/>
            <a:ext cx="5806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42431" y="2432303"/>
            <a:ext cx="310896" cy="310896"/>
          </a:xfrm>
          <a:prstGeom prst="ellipse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51576" y="2423160"/>
            <a:ext cx="29260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432303"/>
            <a:ext cx="137160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检索文献</a:t>
            </a:r>
            <a:endParaRPr sz="16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71231" y="2432303"/>
            <a:ext cx="356616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找到相关工作和引用线索</a:t>
            </a:r>
            <a:endParaRPr sz="136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614416" y="2953511"/>
            <a:ext cx="5806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42431" y="3072383"/>
            <a:ext cx="310896" cy="310896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51576" y="3063239"/>
            <a:ext cx="29260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072383"/>
            <a:ext cx="137160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总结论文</a:t>
            </a:r>
            <a:endParaRPr sz="16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71231" y="3072383"/>
            <a:ext cx="356616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归纳方法、结果与贡献</a:t>
            </a:r>
            <a:endParaRPr sz="136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14416" y="3593591"/>
            <a:ext cx="5806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742431" y="3712463"/>
            <a:ext cx="310896" cy="310896"/>
          </a:xfrm>
          <a:prstGeom prst="ellipse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51576" y="3703320"/>
            <a:ext cx="29260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712463"/>
            <a:ext cx="137160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解释公式</a:t>
            </a:r>
            <a:endParaRPr sz="16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71231" y="3712463"/>
            <a:ext cx="356616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理解概念、推导与假设</a:t>
            </a:r>
            <a:endParaRPr sz="136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614416" y="4233671"/>
            <a:ext cx="5806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42431" y="4352543"/>
            <a:ext cx="310896" cy="310896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51576" y="4343399"/>
            <a:ext cx="29260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45352" y="4352543"/>
            <a:ext cx="137160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生成代码</a:t>
            </a:r>
            <a:endParaRPr sz="16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71231" y="4352543"/>
            <a:ext cx="356616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加速实现、复现与实验</a:t>
            </a:r>
            <a:endParaRPr sz="136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614416" y="4873752"/>
            <a:ext cx="5806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42431" y="4992624"/>
            <a:ext cx="310896" cy="310896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51576" y="4983480"/>
            <a:ext cx="29260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5352" y="4992624"/>
            <a:ext cx="137160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提出方法</a:t>
            </a:r>
            <a:endParaRPr sz="16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71231" y="4992624"/>
            <a:ext cx="3566160" cy="31089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生成新的研究假设与方案</a:t>
            </a:r>
            <a:endParaRPr sz="136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WHY WE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读 Pape</a:t>
            </a:r>
            <a:r>
              <a:rPr lang="en-US"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r</a:t>
            </a:r>
            <a:r>
              <a:rPr lang="zh-CN" altLang="en-US"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，究竟在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积累什么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161288"/>
            <a:ext cx="10881360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读完不一定立刻产生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</a:t>
            </a: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Idea，但会逐渐留下问题意识、判断力、连接能力和表达方式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4533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03  /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348386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56231"/>
            <a:ext cx="47548" cy="1188720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892807"/>
            <a:ext cx="548640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865376"/>
            <a:ext cx="2340864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理解问题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2386584"/>
            <a:ext cx="3026664" cy="576072"/>
          </a:xfrm>
          <a:prstGeom prst="rect">
            <a:avLst/>
          </a:prstGeom>
          <a:noFill/>
        </p:spPr>
        <p:txBody>
          <a:bodyPr wrap="square" lIns="0" tIns="5486" rIns="0" bIns="548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理解作者为什么做，问题如何提出；弄清真正解决了什么</a:t>
            </a:r>
            <a:r>
              <a:rPr sz="14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19072"/>
            <a:ext cx="348386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70832" y="1856231"/>
            <a:ext cx="47548" cy="1188720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1144" y="1892807"/>
            <a:ext cx="548640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1865376"/>
            <a:ext cx="2340864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形成判断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9432" y="2386584"/>
            <a:ext cx="3026664" cy="576072"/>
          </a:xfrm>
          <a:prstGeom prst="rect">
            <a:avLst/>
          </a:prstGeom>
          <a:noFill/>
        </p:spPr>
        <p:txBody>
          <a:bodyPr wrap="square" lIns="0" tIns="5486" rIns="0" bIns="548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检查证据、对照和结论边界；区分已知与未知</a:t>
            </a:r>
            <a:r>
              <a:rPr sz="14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719072"/>
            <a:ext cx="3483864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5864" y="1856231"/>
            <a:ext cx="47548" cy="1188720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6176" y="1892807"/>
            <a:ext cx="548640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EEA23A"/>
                </a:solidFill>
                <a:latin typeface="宋体" panose="02010600030101010101" pitchFamily="2" charset="-122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865376"/>
            <a:ext cx="2340864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发现连接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84464" y="2386584"/>
            <a:ext cx="3026664" cy="576072"/>
          </a:xfrm>
          <a:prstGeom prst="rect">
            <a:avLst/>
          </a:prstGeom>
          <a:noFill/>
        </p:spPr>
        <p:txBody>
          <a:bodyPr wrap="square" lIns="0" tIns="5486" rIns="0" bIns="548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看到新技术、新现象，思考能否改变自己的研究方式</a:t>
            </a:r>
            <a:r>
              <a:rPr sz="14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346704"/>
            <a:ext cx="5312664" cy="11795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483864"/>
            <a:ext cx="47548" cy="905256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511296"/>
            <a:ext cx="621792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16C64"/>
                </a:solidFill>
                <a:latin typeface="宋体" panose="02010600030101010101" pitchFamily="2" charset="-122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7904" y="3511296"/>
            <a:ext cx="4187952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长期积累</a:t>
            </a:r>
            <a:endParaRPr sz="18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4014216"/>
            <a:ext cx="4846320" cy="40233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一个概念、一种方法或问题，可能数月乃至数年以后才与其他经历连接起来</a:t>
            </a:r>
            <a:r>
              <a:rPr sz="13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346704"/>
            <a:ext cx="5312664" cy="11795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17920" y="3483864"/>
            <a:ext cx="47548" cy="905256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9088" y="3511296"/>
            <a:ext cx="621792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0024" y="3511296"/>
            <a:ext cx="4187952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学习写作与表达</a:t>
            </a:r>
            <a:endParaRPr sz="18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46520" y="4014216"/>
            <a:ext cx="4846320" cy="40233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学会组织故事：Motivation</a:t>
            </a:r>
            <a:r>
              <a:rPr sz="13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→ </a:t>
            </a:r>
            <a:r>
              <a:rPr sz="13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方法</a:t>
            </a:r>
            <a:r>
              <a:rPr sz="13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→ </a:t>
            </a:r>
            <a:r>
              <a:rPr sz="13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证据；一句话说清工作的</a:t>
            </a:r>
            <a:r>
              <a:rPr sz="13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Impact。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718304"/>
            <a:ext cx="5312664" cy="521207"/>
          </a:xfrm>
          <a:prstGeom prst="roundRect">
            <a:avLst>
              <a:gd name="adj" fmla="val 11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2104" y="4736592"/>
            <a:ext cx="1042415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问题驱动</a:t>
            </a:r>
            <a:endParaRPr sz="1500" b="1" i="0" dirty="0">
              <a:solidFill>
                <a:srgbClr val="366DF4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65960" y="4754879"/>
            <a:ext cx="3840480" cy="4389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为了眼前课题，主动寻找相关研究</a:t>
            </a:r>
            <a:endParaRPr sz="133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17920" y="4718304"/>
            <a:ext cx="5312664" cy="521207"/>
          </a:xfrm>
          <a:prstGeom prst="roundRect">
            <a:avLst>
              <a:gd name="adj" fmla="val 11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64224" y="4736592"/>
            <a:ext cx="1042415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兴趣驱动</a:t>
            </a:r>
            <a:endParaRPr sz="1500" b="1" i="0" dirty="0">
              <a:solidFill>
                <a:srgbClr val="10999C"/>
              </a:solidFill>
              <a:latin typeface="宋体" panose="02010600030101010101" pitchFamily="2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98079" y="4754879"/>
            <a:ext cx="3840480" cy="4389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3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先了解有趣的新东西，为未来积累可能性</a:t>
            </a:r>
            <a:endParaRPr sz="133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85800" y="5404104"/>
            <a:ext cx="10835640" cy="484632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" y="5449824"/>
            <a:ext cx="1032357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读论文，不只是为了知道作者做了什么，也是为了逐渐形成自己的判断和可能性</a:t>
            </a:r>
            <a:r>
              <a:rPr sz="1570" b="1" i="0" dirty="0">
                <a:solidFill>
                  <a:srgbClr val="FFFFFF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6" name="TextBox 32">
            <a:extLst>
              <a:ext uri="{FF2B5EF4-FFF2-40B4-BE49-F238E27FC236}">
                <a16:creationId xmlns:a16="http://schemas.microsoft.com/office/drawing/2014/main" id="{492447B0-AE94-B4E0-EA83-F2DFF2CCF5D6}"/>
              </a:ext>
            </a:extLst>
          </p:cNvPr>
          <p:cNvSpPr txBox="1"/>
          <p:nvPr/>
        </p:nvSpPr>
        <p:spPr>
          <a:xfrm>
            <a:off x="1633308" y="6038470"/>
            <a:ext cx="9753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好的阅读常常“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润物细无声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”：Idea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可能在几周、几个月后，遇到真实问题时才出现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PAPER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同样叫</a:t>
            </a:r>
            <a:r>
              <a:rPr lang="en-US" sz="2900" b="1" dirty="0">
                <a:solidFill>
                  <a:srgbClr val="102A43"/>
                </a:solidFill>
                <a:latin typeface="宋体" panose="02010600030101010101" pitchFamily="2" charset="-122"/>
              </a:rPr>
              <a:t> 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Paper，想贡献的东西并不一样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1161288"/>
            <a:ext cx="10881360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先判断论文的核心贡献，再决定该读什么、读多深；分类不是简单按期刊或会议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4533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04  /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45335" y="1828800"/>
            <a:ext cx="2157984" cy="3401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45335" y="1965960"/>
            <a:ext cx="47548" cy="3127248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19070" y="2066543"/>
            <a:ext cx="438912" cy="438912"/>
          </a:xfrm>
          <a:prstGeom prst="ellipse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00783" y="2112264"/>
            <a:ext cx="493776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FFFFFF"/>
                </a:solidFill>
                <a:latin typeface="宋体" panose="02010600030101010101" pitchFamily="2" charset="-122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28214" y="2670048"/>
            <a:ext cx="1819655" cy="5943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833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/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8214" y="3374136"/>
            <a:ext cx="1819655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画地图</a:t>
            </a:r>
            <a:endParaRPr sz="2300" b="1" i="0" dirty="0">
              <a:solidFill>
                <a:srgbClr val="366DF4"/>
              </a:solidFill>
              <a:latin typeface="宋体" panose="02010600030101010101" pitchFamily="2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792223" y="3904487"/>
            <a:ext cx="1664207" cy="0"/>
          </a:xfrm>
          <a:prstGeom prst="line">
            <a:avLst/>
          </a:prstGeom>
          <a:ln w="1270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28214" y="4041648"/>
            <a:ext cx="1801367" cy="40233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范围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分类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共识与争议</a:t>
            </a:r>
            <a:endParaRPr sz="127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709926" y="4535424"/>
            <a:ext cx="1837943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先看分类框架、覆盖范围和遗漏</a:t>
            </a:r>
            <a:endParaRPr sz="120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858766" y="1828800"/>
            <a:ext cx="2157984" cy="3401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58766" y="1965960"/>
            <a:ext cx="47548" cy="3127248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032503" y="2066543"/>
            <a:ext cx="438912" cy="438912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14214" y="2112264"/>
            <a:ext cx="493776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FFFFFF"/>
                </a:solidFill>
                <a:latin typeface="宋体" panose="02010600030101010101" pitchFamily="2" charset="-122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6" y="2670048"/>
            <a:ext cx="1819655" cy="5943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8334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/ 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6" y="3374136"/>
            <a:ext cx="1819655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定尺子</a:t>
            </a:r>
            <a:endParaRPr sz="2300" b="1" i="0" dirty="0">
              <a:solidFill>
                <a:srgbClr val="10999C"/>
              </a:solidFill>
              <a:latin typeface="宋体" panose="02010600030101010101" pitchFamily="2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105654" y="3904487"/>
            <a:ext cx="1664209" cy="0"/>
          </a:xfrm>
          <a:prstGeom prst="line">
            <a:avLst/>
          </a:prstGeom>
          <a:ln w="1270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041646" y="4041648"/>
            <a:ext cx="1801367" cy="40233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数据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划分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指标与污染</a:t>
            </a:r>
            <a:endParaRPr sz="127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23358" y="4535424"/>
            <a:ext cx="1837943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重点审数据来源及评测协议</a:t>
            </a:r>
            <a:endParaRPr sz="120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47951" y="1828800"/>
            <a:ext cx="2157984" cy="3401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47951" y="1965960"/>
            <a:ext cx="47548" cy="3127248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421687" y="2066543"/>
            <a:ext cx="438912" cy="438912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3399" y="2112264"/>
            <a:ext cx="493776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FFFFFF"/>
                </a:solidFill>
                <a:latin typeface="宋体" panose="02010600030101010101" pitchFamily="2" charset="-122"/>
              </a:rPr>
              <a:t>0</a:t>
            </a:r>
            <a:r>
              <a:rPr lang="en-US" sz="1150" b="1" i="0" dirty="0">
                <a:solidFill>
                  <a:srgbClr val="FFFFFF"/>
                </a:solidFill>
                <a:latin typeface="宋体" panose="02010600030101010101" pitchFamily="2" charset="-122"/>
              </a:rPr>
              <a:t>3</a:t>
            </a:r>
            <a:endParaRPr sz="1150" b="1" i="0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30831" y="2670048"/>
            <a:ext cx="1819655" cy="5943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CS / AI Paper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0831" y="3374136"/>
            <a:ext cx="1819655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dirty="0" err="1">
                <a:solidFill>
                  <a:srgbClr val="F16C64"/>
                </a:solidFill>
                <a:latin typeface="宋体" panose="02010600030101010101" pitchFamily="2" charset="-122"/>
              </a:rPr>
              <a:t>提方法</a:t>
            </a:r>
            <a:endParaRPr sz="2300" b="1" i="0" dirty="0">
              <a:solidFill>
                <a:srgbClr val="F16C64"/>
              </a:solidFill>
              <a:latin typeface="宋体" panose="02010600030101010101" pitchFamily="2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494839" y="3904487"/>
            <a:ext cx="1664209" cy="0"/>
          </a:xfrm>
          <a:prstGeom prst="line">
            <a:avLst/>
          </a:prstGeom>
          <a:ln w="1270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30831" y="4041648"/>
            <a:ext cx="1801367" cy="40233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问题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机制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理论与实验</a:t>
            </a:r>
            <a:endParaRPr sz="127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12543" y="4535424"/>
            <a:ext cx="1837943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核验方法创新与公平对照</a:t>
            </a:r>
            <a:endParaRPr lang="en-US" sz="120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12000"/>
              </a:lnSpc>
            </a:pPr>
            <a:r>
              <a:rPr lang="zh-CN" altLang="en-US" sz="1200" dirty="0">
                <a:solidFill>
                  <a:srgbClr val="18334D"/>
                </a:solidFill>
                <a:latin typeface="宋体" panose="02010600030101010101" pitchFamily="2" charset="-122"/>
              </a:rPr>
              <a:t>工程可复现</a:t>
            </a:r>
            <a:endParaRPr sz="120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561383" y="1828800"/>
            <a:ext cx="2157984" cy="34015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561383" y="1965960"/>
            <a:ext cx="47548" cy="3127248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735119" y="2066543"/>
            <a:ext cx="438912" cy="438912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716831" y="2112264"/>
            <a:ext cx="493776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dirty="0">
                <a:solidFill>
                  <a:srgbClr val="FFFFFF"/>
                </a:solidFill>
                <a:latin typeface="宋体" panose="02010600030101010101" pitchFamily="2" charset="-122"/>
              </a:rPr>
              <a:t>0</a:t>
            </a:r>
            <a:r>
              <a:rPr lang="en-US" sz="1150" b="1" i="0" dirty="0">
                <a:solidFill>
                  <a:srgbClr val="FFFFFF"/>
                </a:solidFill>
                <a:latin typeface="宋体" panose="02010600030101010101" pitchFamily="2" charset="-122"/>
              </a:rPr>
              <a:t>4</a:t>
            </a:r>
            <a:endParaRPr sz="1150" b="1" i="0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44263" y="2670048"/>
            <a:ext cx="1819655" cy="5943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CNS-style Paper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44263" y="3374136"/>
            <a:ext cx="1819655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做发现</a:t>
            </a:r>
            <a:endParaRPr sz="23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8808271" y="3904487"/>
            <a:ext cx="1664208" cy="0"/>
          </a:xfrm>
          <a:prstGeom prst="line">
            <a:avLst/>
          </a:prstGeom>
          <a:ln w="1270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744263" y="4041648"/>
            <a:ext cx="1801367" cy="40233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科学主张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对照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· </a:t>
            </a: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验证</a:t>
            </a:r>
            <a:endParaRPr sz="127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725975" y="4535424"/>
            <a:ext cx="1837943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追踪真实现象与独立证据</a:t>
            </a:r>
            <a:endParaRPr sz="120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04088" y="5779008"/>
            <a:ext cx="10863072" cy="53035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41832" y="5843016"/>
            <a:ext cx="1038758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一篇论文可以跨类型；真正决定读法的，是它希望你相信的核心</a:t>
            </a:r>
            <a:r>
              <a:rPr sz="152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Claim。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E5B0734-9DA2-3754-5C1C-69235BDA81B9}"/>
              </a:ext>
            </a:extLst>
          </p:cNvPr>
          <p:cNvSpPr txBox="1"/>
          <p:nvPr/>
        </p:nvSpPr>
        <p:spPr>
          <a:xfrm>
            <a:off x="1153857" y="5292590"/>
            <a:ext cx="3098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Awesome-series </a:t>
            </a:r>
            <a:r>
              <a:rPr lang="en-US" altLang="zh-CN" dirty="0" err="1"/>
              <a:t>github</a:t>
            </a:r>
            <a:r>
              <a:rPr lang="en-US" altLang="zh-CN" dirty="0"/>
              <a:t> repo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读论文，不是把它从头看到尾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05  / 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673351"/>
            <a:ext cx="10744200" cy="73152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读论文不是复述作者讲了什么，而是判断：作者究竟做了什么，证据能支持什么，这项工作真正值得学习或改进什么</a:t>
            </a:r>
            <a:r>
              <a:rPr sz="1839" b="1" i="0" dirty="0">
                <a:solidFill>
                  <a:srgbClr val="18334D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679191"/>
            <a:ext cx="4279392" cy="1161288"/>
          </a:xfrm>
          <a:prstGeom prst="roundRect">
            <a:avLst>
              <a:gd name="adj" fmla="val 9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" y="2798063"/>
            <a:ext cx="3749039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作者叙事</a:t>
            </a:r>
            <a:endParaRPr sz="2100" b="1" i="0" dirty="0">
              <a:solidFill>
                <a:srgbClr val="366DF4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264408"/>
            <a:ext cx="3657600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希望你相信什么</a:t>
            </a:r>
            <a:r>
              <a:rPr sz="142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14032" y="2679191"/>
            <a:ext cx="4279392" cy="1161288"/>
          </a:xfrm>
          <a:prstGeom prst="roundRect">
            <a:avLst>
              <a:gd name="adj" fmla="val 9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2798063"/>
            <a:ext cx="3675887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证据链</a:t>
            </a:r>
            <a:endParaRPr sz="2100" b="1" i="0" dirty="0">
              <a:solidFill>
                <a:srgbClr val="10999C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0" y="3264408"/>
            <a:ext cx="3675887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研究实际证明了什么</a:t>
            </a:r>
            <a:r>
              <a:rPr sz="142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9784" y="3255263"/>
            <a:ext cx="1911096" cy="0"/>
          </a:xfrm>
          <a:prstGeom prst="line">
            <a:avLst/>
          </a:prstGeom>
          <a:ln w="25400">
            <a:solidFill>
              <a:srgbClr val="8A9E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765292" y="2935223"/>
            <a:ext cx="640080" cy="640080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15584" y="3026663"/>
            <a:ext cx="548640" cy="4572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197096"/>
            <a:ext cx="3474720" cy="12161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22376" y="4334256"/>
            <a:ext cx="47548" cy="941832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4370832"/>
            <a:ext cx="30175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只记住摘要</a:t>
            </a:r>
            <a:endParaRPr sz="18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0976" y="4818888"/>
            <a:ext cx="3026664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把作者的概括当成自己的理解</a:t>
            </a:r>
            <a:endParaRPr sz="13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407408" y="4197096"/>
            <a:ext cx="3474720" cy="12161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07408" y="4334256"/>
            <a:ext cx="47548" cy="941832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4370832"/>
            <a:ext cx="30175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只复述方法图</a:t>
            </a:r>
            <a:endParaRPr sz="18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36008" y="4818888"/>
            <a:ext cx="3026664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记住模块名，却不知道结果怎样产生</a:t>
            </a:r>
            <a:endParaRPr sz="13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92440" y="4197096"/>
            <a:ext cx="3474720" cy="12161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4334256"/>
            <a:ext cx="47548" cy="941832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370832"/>
            <a:ext cx="30175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只看最高指标</a:t>
            </a:r>
            <a:endParaRPr sz="18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21040" y="4818888"/>
            <a:ext cx="3026664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忽略基线、公平性、归因与边界</a:t>
            </a:r>
            <a:endParaRPr sz="13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FIRST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先回答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</a:t>
            </a:r>
            <a:r>
              <a:rPr sz="2900" b="1" i="0" dirty="0">
                <a:solidFill>
                  <a:srgbClr val="102A43"/>
                </a:solidFill>
                <a:latin typeface="+mj-lt"/>
              </a:rPr>
              <a:t>Why–What–How–Results–So what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06  /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737360"/>
            <a:ext cx="2194560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856231"/>
            <a:ext cx="1956815" cy="704088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56816"/>
            <a:ext cx="1792224" cy="4937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>
                <a:solidFill>
                  <a:srgbClr val="FFFFFF"/>
                </a:solidFill>
                <a:latin typeface="+mj-lt"/>
              </a:rP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752344"/>
            <a:ext cx="1883664" cy="5577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为什么值得做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1832" y="3401568"/>
            <a:ext cx="1627632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0392" y="3584448"/>
            <a:ext cx="1810512" cy="8869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背景与价值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已有工作的真实缺口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80944" y="1737360"/>
            <a:ext cx="2194560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99815" y="1856231"/>
            <a:ext cx="1956815" cy="704088"/>
          </a:xfrm>
          <a:prstGeom prst="roundRect">
            <a:avLst>
              <a:gd name="adj" fmla="val 8000"/>
            </a:avLst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82112" y="1956816"/>
            <a:ext cx="1792224" cy="4937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>
                <a:solidFill>
                  <a:srgbClr val="FFFFFF"/>
                </a:solidFill>
                <a:latin typeface="+mj-lt"/>
              </a:rPr>
              <a:t>WHAT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1" y="2752344"/>
            <a:ext cx="1883664" cy="5577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究竟研究什么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64408" y="3401568"/>
            <a:ext cx="1627632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72968" y="3584448"/>
            <a:ext cx="1810512" cy="8869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核心研究问题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对象、任务、主张与贡献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303520" y="1737360"/>
            <a:ext cx="2194560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22392" y="1856231"/>
            <a:ext cx="1956815" cy="704088"/>
          </a:xfrm>
          <a:prstGeom prst="roundRect">
            <a:avLst>
              <a:gd name="adj" fmla="val 8000"/>
            </a:avLst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04688" y="1956816"/>
            <a:ext cx="1792224" cy="4937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>
                <a:solidFill>
                  <a:srgbClr val="FFFFFF"/>
                </a:solidFill>
                <a:latin typeface="+mj-lt"/>
              </a:rPr>
              <a:t>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752344"/>
            <a:ext cx="1883664" cy="5577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怎样解决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86983" y="3401568"/>
            <a:ext cx="1627633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95544" y="3584448"/>
            <a:ext cx="1810512" cy="8869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方法机制、数据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模型、工具与关键流程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626096" y="1737360"/>
            <a:ext cx="2194560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44968" y="1856231"/>
            <a:ext cx="1956815" cy="704088"/>
          </a:xfrm>
          <a:prstGeom prst="roundRect">
            <a:avLst>
              <a:gd name="adj" fmla="val 8000"/>
            </a:avLst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27264" y="1956816"/>
            <a:ext cx="1792224" cy="4937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>
                <a:solidFill>
                  <a:srgbClr val="FFFFFF"/>
                </a:solidFill>
                <a:latin typeface="+mj-lt"/>
              </a:rPr>
              <a:t>RESULTS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1544" y="2752344"/>
            <a:ext cx="1883664" cy="5577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结果如何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09560" y="3401568"/>
            <a:ext cx="1627632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8120" y="3584448"/>
            <a:ext cx="1810512" cy="8869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主要数字与对照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消融、失败案例与成本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948672" y="1737360"/>
            <a:ext cx="2194560" cy="2999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067544" y="1856231"/>
            <a:ext cx="1956815" cy="704088"/>
          </a:xfrm>
          <a:prstGeom prst="roundRect">
            <a:avLst>
              <a:gd name="adj" fmla="val 8000"/>
            </a:avLst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49840" y="1956816"/>
            <a:ext cx="1792224" cy="4937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>
                <a:solidFill>
                  <a:srgbClr val="FFFFFF"/>
                </a:solidFill>
                <a:latin typeface="宋体" panose="02010600030101010101" pitchFamily="2" charset="-122"/>
              </a:rPr>
              <a:t>SO WHAT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752344"/>
            <a:ext cx="1883664" cy="5577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意味着什么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32136" y="3401568"/>
            <a:ext cx="1627632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140696" y="3584448"/>
            <a:ext cx="1810512" cy="8869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结论是否成立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边界、复用价值与新问题</a:t>
            </a:r>
            <a:endParaRPr sz="142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94944" y="4965192"/>
            <a:ext cx="10799064" cy="521207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5256" y="5047488"/>
            <a:ext cx="10369296" cy="33832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dirty="0">
                <a:solidFill>
                  <a:srgbClr val="FFFFFF"/>
                </a:solidFill>
                <a:latin typeface="宋体" panose="02010600030101010101" pitchFamily="2" charset="-122"/>
              </a:rPr>
              <a:t>Why 是 Gap     ·     What 是 Problem + Claim     ·     </a:t>
            </a:r>
            <a:r>
              <a:rPr sz="147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关键是建立「问题</a:t>
            </a:r>
            <a:r>
              <a:rPr sz="1470" b="1" i="0" dirty="0">
                <a:solidFill>
                  <a:srgbClr val="FFFFFF"/>
                </a:solidFill>
                <a:latin typeface="宋体" panose="02010600030101010101" pitchFamily="2" charset="-122"/>
              </a:rPr>
              <a:t> → </a:t>
            </a:r>
            <a:r>
              <a:rPr sz="147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方法</a:t>
            </a:r>
            <a:r>
              <a:rPr sz="1470" b="1" i="0" dirty="0">
                <a:solidFill>
                  <a:srgbClr val="FFFFFF"/>
                </a:solidFill>
                <a:latin typeface="宋体" panose="02010600030101010101" pitchFamily="2" charset="-122"/>
              </a:rPr>
              <a:t> → </a:t>
            </a:r>
            <a:r>
              <a:rPr sz="147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证据</a:t>
            </a:r>
            <a:r>
              <a:rPr sz="1470" b="1" i="0" dirty="0">
                <a:solidFill>
                  <a:srgbClr val="FFFFFF"/>
                </a:solidFill>
                <a:latin typeface="宋体" panose="02010600030101010101" pitchFamily="2" charset="-122"/>
              </a:rPr>
              <a:t> → </a:t>
            </a:r>
            <a:r>
              <a:rPr sz="147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结论」的逻辑链</a:t>
            </a:r>
            <a:endParaRPr sz="1470" b="1" i="0" dirty="0">
              <a:solidFill>
                <a:srgbClr val="FFFFFF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41832" y="5623559"/>
            <a:ext cx="10268712" cy="27432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第一遍不追求理解每个公式，而是先抓住整篇工作的主线</a:t>
            </a:r>
            <a:r>
              <a:rPr sz="13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READING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三遍读：先抓主线，再还原过程，最后核验证据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07  / 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8740" y="1773936"/>
            <a:ext cx="9683496" cy="0"/>
          </a:xfrm>
          <a:prstGeom prst="line">
            <a:avLst/>
          </a:prstGeom>
          <a:ln w="38100">
            <a:solidFill>
              <a:srgbClr val="CCD8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171699" y="1490472"/>
            <a:ext cx="566928" cy="566928"/>
          </a:xfrm>
          <a:prstGeom prst="ellipse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9132" y="1563624"/>
            <a:ext cx="502920" cy="4206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" y="2231136"/>
            <a:ext cx="3474720" cy="2039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" y="2368296"/>
            <a:ext cx="47548" cy="1764792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1268" y="2441448"/>
            <a:ext cx="3090672" cy="4846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第一遍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 · </a:t>
            </a: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快速判断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01268" y="2980944"/>
            <a:ext cx="1591056" cy="292608"/>
          </a:xfrm>
          <a:prstGeom prst="roundRect">
            <a:avLst>
              <a:gd name="adj" fmla="val 20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4420" y="2993745"/>
            <a:ext cx="1444752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 dirty="0">
                <a:solidFill>
                  <a:srgbClr val="366DF4"/>
                </a:solidFill>
                <a:latin typeface="宋体" panose="02010600030101010101" pitchFamily="2" charset="-122"/>
              </a:rPr>
              <a:t>5–10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" y="3474720"/>
            <a:ext cx="3008376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标题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摘要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主图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结论</a:t>
            </a:r>
            <a:endParaRPr sz="129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1268" y="3849624"/>
            <a:ext cx="3017520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抓主线，决定是否继续</a:t>
            </a:r>
            <a:endParaRPr sz="1320" b="1" i="0" dirty="0">
              <a:solidFill>
                <a:srgbClr val="366DF4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856732" y="1490472"/>
            <a:ext cx="566928" cy="56692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84164" y="1563624"/>
            <a:ext cx="502920" cy="4206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6844" y="2231136"/>
            <a:ext cx="3474720" cy="2039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66844" y="2368296"/>
            <a:ext cx="47548" cy="1764792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6300" y="2441448"/>
            <a:ext cx="3090672" cy="4846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第二遍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 · </a:t>
            </a: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深入理解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686300" y="2980944"/>
            <a:ext cx="1591056" cy="292608"/>
          </a:xfrm>
          <a:prstGeom prst="roundRect">
            <a:avLst>
              <a:gd name="adj" fmla="val 20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9452" y="2993745"/>
            <a:ext cx="1444752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 dirty="0">
                <a:solidFill>
                  <a:srgbClr val="10999C"/>
                </a:solidFill>
                <a:latin typeface="宋体" panose="02010600030101010101" pitchFamily="2" charset="-122"/>
              </a:rPr>
              <a:t>30–60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6300" y="3474720"/>
            <a:ext cx="3008376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方法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实验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补充材料</a:t>
            </a:r>
            <a:r>
              <a:rPr lang="en-US"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</a:t>
            </a:r>
            <a:r>
              <a:rPr lang="en-US" sz="1290" dirty="0">
                <a:solidFill>
                  <a:srgbClr val="60748B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290" dirty="0">
                <a:solidFill>
                  <a:srgbClr val="60748B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290" dirty="0">
                <a:solidFill>
                  <a:srgbClr val="60748B"/>
                </a:solidFill>
                <a:latin typeface="宋体" panose="02010600030101010101" pitchFamily="2" charset="-122"/>
              </a:rPr>
              <a:t>Code</a:t>
            </a:r>
            <a:endParaRPr sz="129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86300" y="3849624"/>
            <a:ext cx="3017520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还原系统实际如何运行</a:t>
            </a:r>
            <a:endParaRPr sz="1320" b="1" i="0" dirty="0">
              <a:solidFill>
                <a:srgbClr val="10999C"/>
              </a:solidFill>
              <a:latin typeface="宋体" panose="02010600030101010101" pitchFamily="2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541764" y="1490472"/>
            <a:ext cx="566928" cy="56692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69196" y="1563624"/>
            <a:ext cx="502920" cy="4206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1876" y="2231136"/>
            <a:ext cx="3474720" cy="20391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51876" y="2368296"/>
            <a:ext cx="47548" cy="1764792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71332" y="2441448"/>
            <a:ext cx="3090672" cy="4846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第三遍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 · </a:t>
            </a: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研究级阅读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371332" y="2980944"/>
            <a:ext cx="1591056" cy="292608"/>
          </a:xfrm>
          <a:prstGeom prst="roundRect">
            <a:avLst>
              <a:gd name="adj" fmla="val 20000"/>
            </a:avLst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44484" y="2993745"/>
            <a:ext cx="1444752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 dirty="0" err="1">
                <a:solidFill>
                  <a:srgbClr val="F16C64"/>
                </a:solidFill>
                <a:latin typeface="宋体" panose="02010600030101010101" pitchFamily="2" charset="-122"/>
              </a:rPr>
              <a:t>按需数小时</a:t>
            </a:r>
            <a:endParaRPr sz="1130" b="1" i="0" dirty="0">
              <a:solidFill>
                <a:srgbClr val="F16C64"/>
              </a:solidFill>
              <a:latin typeface="宋体" panose="02010600030101010101" pitchFamily="2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71332" y="3474720"/>
            <a:ext cx="3008376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假设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代码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/ </a:t>
            </a: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复现与反例</a:t>
            </a:r>
            <a:endParaRPr sz="129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371332" y="3849624"/>
            <a:ext cx="3017520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 dirty="0" err="1">
                <a:solidFill>
                  <a:srgbClr val="F16C64"/>
                </a:solidFill>
                <a:latin typeface="宋体" panose="02010600030101010101" pitchFamily="2" charset="-122"/>
              </a:rPr>
              <a:t>核验主张与证据边界</a:t>
            </a:r>
            <a:endParaRPr sz="1320" b="1" i="0" dirty="0">
              <a:solidFill>
                <a:srgbClr val="F16C64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90956" y="4471416"/>
            <a:ext cx="10808208" cy="521207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2124" y="4544568"/>
            <a:ext cx="10369296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阅读深度由问题相关性决定；AI</a:t>
            </a:r>
            <a:r>
              <a:rPr sz="134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</a:t>
            </a:r>
            <a:r>
              <a:rPr sz="134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可以加速理解，但值得深入的工作仍应回到英文原文</a:t>
            </a:r>
            <a:r>
              <a:rPr lang="en-US" sz="1340" b="1" i="0" dirty="0">
                <a:solidFill>
                  <a:srgbClr val="102A43"/>
                </a:solidFill>
                <a:latin typeface="宋体" panose="02010600030101010101" pitchFamily="2" charset="-122"/>
              </a:rPr>
              <a:t>(abstract, introduction, method)</a:t>
            </a:r>
            <a:r>
              <a:rPr sz="1340" b="1" i="0" dirty="0">
                <a:solidFill>
                  <a:srgbClr val="102A43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217920"/>
            <a:ext cx="7498079" cy="1645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 dirty="0">
                <a:solidFill>
                  <a:srgbClr val="60748B"/>
                </a:solidFill>
                <a:latin typeface="宋体" panose="02010600030101010101" pitchFamily="2" charset="-122"/>
              </a:rPr>
              <a:t>Adapted from S. Keshav, “How to Read a Paper” (2007).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GROUP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哪些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Paper 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值得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Present？先回答这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4 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个问题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08  /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719072"/>
            <a:ext cx="535838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56231"/>
            <a:ext cx="47548" cy="1216151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883664"/>
            <a:ext cx="603504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3624" y="1883664"/>
            <a:ext cx="4087368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直接相关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2404872"/>
            <a:ext cx="477316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它回答了我们正在面对的什么问题</a:t>
            </a:r>
            <a:r>
              <a:rPr sz="147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788920"/>
            <a:ext cx="4800600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对当前课题的难点、争议或选择有帮助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1928" y="1719072"/>
            <a:ext cx="535838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81928" y="1856231"/>
            <a:ext cx="47548" cy="1216151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883664"/>
            <a:ext cx="603504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1883664"/>
            <a:ext cx="4087368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有实质增量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28816" y="2404872"/>
            <a:ext cx="477316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相对已有工作，真正新增了什么</a:t>
            </a:r>
            <a:r>
              <a:rPr sz="147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2788920"/>
            <a:ext cx="4800600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新问题、机制、数据、评测或有力的负结果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401568"/>
            <a:ext cx="535838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538727"/>
            <a:ext cx="47548" cy="1216151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" y="3566160"/>
            <a:ext cx="603504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EEA23A"/>
                </a:solidFill>
                <a:latin typeface="宋体" panose="02010600030101010101" pitchFamily="2" charset="-122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63624" y="3566160"/>
            <a:ext cx="4087368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证据值得讨论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4087368"/>
            <a:ext cx="477316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有哪些实验能支持或挑战其主张</a:t>
            </a:r>
            <a:r>
              <a:rPr sz="147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71416"/>
            <a:ext cx="4800600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关键对照、消融、失败或重要证据缺口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3401568"/>
            <a:ext cx="535838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81928" y="3538727"/>
            <a:ext cx="47548" cy="1216151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566160"/>
            <a:ext cx="603504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>
                <a:solidFill>
                  <a:srgbClr val="F16C64"/>
                </a:solidFill>
                <a:latin typeface="宋体" panose="02010600030101010101" pitchFamily="2" charset="-122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66160"/>
            <a:ext cx="4087368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能转化为行动</a:t>
            </a:r>
            <a:endParaRPr sz="19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28816" y="4087368"/>
            <a:ext cx="4773168" cy="32004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听完以后，我们会决定做什么</a:t>
            </a:r>
            <a:r>
              <a:rPr sz="147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4471416"/>
            <a:ext cx="4800600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复现、换评测、改流程或设计验证实验</a:t>
            </a:r>
            <a:r>
              <a:rPr sz="129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248655"/>
            <a:ext cx="10799064" cy="548640"/>
          </a:xfrm>
          <a:prstGeom prst="roundRect">
            <a:avLst>
              <a:gd name="adj" fmla="val 7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5303520"/>
            <a:ext cx="10113264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如果不讲这篇，组里的同学会错过什么重要东西</a:t>
            </a:r>
            <a:r>
              <a:rPr sz="17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READ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不要按页码读：按问题找答案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1161288"/>
            <a:ext cx="10881360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阅读顺序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≠ </a:t>
            </a: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论文顺序。目标是尽快判断是否值得继续，以及下一步应该读哪里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4533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09  /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" y="1938528"/>
            <a:ext cx="4645152" cy="3584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61872" y="2167128"/>
            <a:ext cx="3611880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90" b="1" i="0" dirty="0">
                <a:solidFill>
                  <a:srgbClr val="102A43"/>
                </a:solidFill>
                <a:latin typeface="+mj-lt"/>
              </a:rPr>
              <a:t>A RESEARCH PAPER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" y="2633472"/>
            <a:ext cx="4087368" cy="347472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2456" y="2670048"/>
            <a:ext cx="376732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 dirty="0">
                <a:solidFill>
                  <a:srgbClr val="366DF4"/>
                </a:solidFill>
                <a:latin typeface="+mj-lt"/>
              </a:rPr>
              <a:t>Title + Abstract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07008" y="3054096"/>
            <a:ext cx="4087368" cy="3474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62456" y="3090672"/>
            <a:ext cx="376732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 dirty="0">
                <a:solidFill>
                  <a:srgbClr val="60748B"/>
                </a:solidFill>
                <a:latin typeface="+mj-lt"/>
              </a:rPr>
              <a:t>Introduction / Related 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" y="3474720"/>
            <a:ext cx="4087368" cy="347472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62456" y="3511296"/>
            <a:ext cx="376732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 dirty="0">
                <a:solidFill>
                  <a:srgbClr val="10999C"/>
                </a:solidFill>
                <a:latin typeface="+mj-lt"/>
              </a:rPr>
              <a:t>Method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7008" y="3895344"/>
            <a:ext cx="4087368" cy="347472"/>
          </a:xfrm>
          <a:prstGeom prst="roundRect">
            <a:avLst>
              <a:gd name="adj" fmla="val 6000"/>
            </a:avLst>
          </a:prstGeom>
          <a:solidFill>
            <a:srgbClr val="FFF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62456" y="3931920"/>
            <a:ext cx="376732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 dirty="0">
                <a:solidFill>
                  <a:srgbClr val="EEA23A"/>
                </a:solidFill>
                <a:latin typeface="+mj-lt"/>
              </a:rPr>
              <a:t>Experiments + Figures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07008" y="4315968"/>
            <a:ext cx="4087368" cy="347472"/>
          </a:xfrm>
          <a:prstGeom prst="roundRect">
            <a:avLst>
              <a:gd name="adj" fmla="val 6000"/>
            </a:avLst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62456" y="4352544"/>
            <a:ext cx="376732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 dirty="0">
                <a:solidFill>
                  <a:srgbClr val="F16C64"/>
                </a:solidFill>
                <a:latin typeface="+mj-lt"/>
              </a:rPr>
              <a:t>Conclusion + Limitations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7008" y="4736592"/>
            <a:ext cx="4087368" cy="3474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62456" y="4773168"/>
            <a:ext cx="376732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 dirty="0">
                <a:solidFill>
                  <a:srgbClr val="60748B"/>
                </a:solidFill>
                <a:latin typeface="+mj-lt"/>
              </a:rPr>
              <a:t>References / Supplement / Code</a:t>
            </a:r>
          </a:p>
        </p:txBody>
      </p:sp>
      <p:sp>
        <p:nvSpPr>
          <p:cNvPr id="24" name="Oval 23"/>
          <p:cNvSpPr/>
          <p:nvPr/>
        </p:nvSpPr>
        <p:spPr>
          <a:xfrm>
            <a:off x="6181344" y="2240280"/>
            <a:ext cx="475488" cy="475488"/>
          </a:xfrm>
          <a:prstGeom prst="ellipse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90488" y="2258568"/>
            <a:ext cx="457200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203704"/>
            <a:ext cx="4187952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先看</a:t>
            </a:r>
            <a:endParaRPr sz="20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12864" y="2642616"/>
            <a:ext cx="4416552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标题、摘要、主图与结论</a:t>
            </a:r>
            <a:endParaRPr sz="145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6419088" y="2779776"/>
            <a:ext cx="0" cy="429768"/>
          </a:xfrm>
          <a:prstGeom prst="line">
            <a:avLst/>
          </a:prstGeom>
          <a:ln w="1397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181344" y="3273552"/>
            <a:ext cx="475488" cy="47548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0488" y="3291840"/>
            <a:ext cx="457200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236976"/>
            <a:ext cx="4187952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再找</a:t>
            </a:r>
            <a:endParaRPr sz="20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12864" y="3675887"/>
            <a:ext cx="4416552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真实缺口、核心主张、关键结果</a:t>
            </a:r>
            <a:endParaRPr sz="145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419088" y="3813048"/>
            <a:ext cx="0" cy="429768"/>
          </a:xfrm>
          <a:prstGeom prst="line">
            <a:avLst/>
          </a:prstGeom>
          <a:ln w="1397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181344" y="4306824"/>
            <a:ext cx="475488" cy="47548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0488" y="4325112"/>
            <a:ext cx="457200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4270248"/>
            <a:ext cx="4187952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最后深入</a:t>
            </a:r>
            <a:endParaRPr sz="20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12864" y="4709160"/>
            <a:ext cx="4416552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方法、实验、补充材料与代码</a:t>
            </a:r>
            <a:endParaRPr sz="145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446520" y="5285231"/>
            <a:ext cx="5020056" cy="365760"/>
          </a:xfrm>
          <a:prstGeom prst="roundRect">
            <a:avLst>
              <a:gd name="adj" fmla="val 9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11112" y="5330952"/>
            <a:ext cx="4636008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4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图表往往比正文更快暴露真正的贡献</a:t>
            </a:r>
            <a:r>
              <a:rPr sz="1340" b="1" i="0" dirty="0">
                <a:solidFill>
                  <a:srgbClr val="366DF4"/>
                </a:solidFill>
                <a:latin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FIRST PASS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能用一句话讲清，才算抓住主线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10  /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39"/>
            <a:ext cx="10753344" cy="1316736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6696" y="1810512"/>
            <a:ext cx="1920240" cy="3291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97C5FF"/>
                </a:solidFill>
                <a:latin typeface="宋体" panose="02010600030101010101" pitchFamily="2" charset="-122"/>
              </a:rPr>
              <a:t>一句话模板</a:t>
            </a:r>
            <a:endParaRPr sz="1500" b="1" i="0" dirty="0">
              <a:solidFill>
                <a:srgbClr val="97C5FF"/>
              </a:solidFill>
              <a:latin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4984" y="2176272"/>
            <a:ext cx="10204704" cy="6492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39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针对【什么问题</a:t>
            </a:r>
            <a:r>
              <a:rPr sz="1739" b="1" i="0" dirty="0">
                <a:solidFill>
                  <a:srgbClr val="FFFFFF"/>
                </a:solidFill>
                <a:latin typeface="宋体" panose="02010600030101010101" pitchFamily="2" charset="-122"/>
              </a:rPr>
              <a:t>】，</a:t>
            </a:r>
            <a:r>
              <a:rPr sz="1739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作者提出【什么方法</a:t>
            </a:r>
            <a:r>
              <a:rPr sz="1739" b="1" i="0" dirty="0">
                <a:solidFill>
                  <a:srgbClr val="FFFFFF"/>
                </a:solidFill>
                <a:latin typeface="宋体" panose="02010600030101010101" pitchFamily="2" charset="-122"/>
              </a:rPr>
              <a:t> / </a:t>
            </a:r>
            <a:r>
              <a:rPr sz="1739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核心机制</a:t>
            </a:r>
            <a:r>
              <a:rPr sz="1739" b="1" i="0" dirty="0">
                <a:solidFill>
                  <a:srgbClr val="FFFFFF"/>
                </a:solidFill>
                <a:latin typeface="宋体" panose="02010600030101010101" pitchFamily="2" charset="-122"/>
              </a:rPr>
              <a:t>】，</a:t>
            </a:r>
            <a:r>
              <a:rPr sz="1739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在【什么任务与数据】上用【什么证据】支持【什么主张</a:t>
            </a:r>
            <a:r>
              <a:rPr sz="1739" b="1" i="0" dirty="0">
                <a:solidFill>
                  <a:srgbClr val="FFFFFF"/>
                </a:solidFill>
                <a:latin typeface="宋体" panose="02010600030101010101" pitchFamily="2" charset="-122"/>
              </a:rPr>
              <a:t>】；</a:t>
            </a:r>
            <a:r>
              <a:rPr sz="1739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但【边界】仍需核实</a:t>
            </a:r>
            <a:r>
              <a:rPr sz="1739" b="1" i="0" dirty="0">
                <a:solidFill>
                  <a:srgbClr val="FFFFFF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" y="3319272"/>
            <a:ext cx="5202936" cy="1746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3456432"/>
            <a:ext cx="47548" cy="1472184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264" y="3493008"/>
            <a:ext cx="4764024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 err="1">
                <a:solidFill>
                  <a:srgbClr val="F16C64"/>
                </a:solidFill>
                <a:latin typeface="宋体" panose="02010600030101010101" pitchFamily="2" charset="-122"/>
              </a:rPr>
              <a:t>不够好的概括</a:t>
            </a:r>
            <a:endParaRPr sz="1839" b="1" i="0" dirty="0">
              <a:solidFill>
                <a:srgbClr val="F16C64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" y="3995928"/>
            <a:ext cx="4736592" cy="50292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“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提出了一个新的多智能体系统，效果很好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599432"/>
            <a:ext cx="4745736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没有问题、机制、证据，也没有边界</a:t>
            </a:r>
            <a:r>
              <a:rPr sz="128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3319272"/>
            <a:ext cx="5202936" cy="1746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2784" y="3456432"/>
            <a:ext cx="47548" cy="1472184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01384" y="3493008"/>
            <a:ext cx="4764024" cy="39319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39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更好的概括</a:t>
            </a:r>
            <a:endParaRPr sz="1839" b="1" i="0" dirty="0">
              <a:solidFill>
                <a:srgbClr val="10999C"/>
              </a:solidFill>
              <a:latin typeface="宋体" panose="02010600030101010101" pitchFamily="2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01384" y="3995928"/>
            <a:ext cx="4736592" cy="50292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“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针对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X 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任务中的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Y 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缺口，作者通过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Z 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机制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……，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证据来自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A/</a:t>
            </a: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B，但尚未证明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C。”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4599432"/>
            <a:ext cx="4745736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问题、机制、证据和边界都可追溯</a:t>
            </a:r>
            <a:r>
              <a:rPr sz="128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5248655"/>
            <a:ext cx="10725912" cy="438912"/>
          </a:xfrm>
          <a:prstGeom prst="roundRect">
            <a:avLst>
              <a:gd name="adj" fmla="val 9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5285231"/>
            <a:ext cx="10241280" cy="32918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写不出来，通常说明你还没区分清楚</a:t>
            </a:r>
            <a:r>
              <a:rPr sz="1440" b="1" i="0" dirty="0">
                <a:solidFill>
                  <a:srgbClr val="366DF4"/>
                </a:solidFill>
                <a:latin typeface="宋体" panose="02010600030101010101" pitchFamily="2" charset="-122"/>
              </a:rPr>
              <a:t> </a:t>
            </a:r>
            <a:r>
              <a:rPr sz="144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Problem、Claim</a:t>
            </a:r>
            <a:r>
              <a:rPr sz="1440" b="1" i="0" dirty="0">
                <a:solidFill>
                  <a:srgbClr val="366DF4"/>
                </a:solidFill>
                <a:latin typeface="宋体" panose="02010600030101010101" pitchFamily="2" charset="-122"/>
              </a:rPr>
              <a:t> 与 Evidence。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REVIEWER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把自己当成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Reviewer：这篇论文究竟证明了什么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161288"/>
            <a:ext cx="10881360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暂时忘掉作者叙事，独立重建「问题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—</a:t>
            </a: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主张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—</a:t>
            </a: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证据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—</a:t>
            </a:r>
            <a:r>
              <a:rPr sz="144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边界</a:t>
            </a:r>
            <a:r>
              <a:rPr sz="14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」。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54533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11  /  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837943"/>
            <a:ext cx="309067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94944" y="1975103"/>
            <a:ext cx="47548" cy="822959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975103"/>
            <a:ext cx="51206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956815"/>
            <a:ext cx="2084831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重要吗</a:t>
            </a:r>
            <a:r>
              <a:rPr sz="165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459736"/>
            <a:ext cx="2706624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领域为什么应该关心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9352" y="1837943"/>
            <a:ext cx="309067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59352" y="1975103"/>
            <a:ext cx="47548" cy="822959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33088" y="1975103"/>
            <a:ext cx="51206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1956815"/>
            <a:ext cx="2084831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新在哪里</a:t>
            </a:r>
            <a:r>
              <a:rPr sz="165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459736"/>
            <a:ext cx="2706624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与最相近工作有何增量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3081528"/>
            <a:ext cx="309067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94944" y="3218688"/>
            <a:ext cx="47548" cy="822959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218688"/>
            <a:ext cx="51206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EEA23A"/>
                </a:solidFill>
                <a:latin typeface="宋体" panose="02010600030101010101" pitchFamily="2" charset="-122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200400"/>
            <a:ext cx="2084831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方法对吗</a:t>
            </a:r>
            <a:r>
              <a:rPr sz="165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3703320"/>
            <a:ext cx="2706624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假设、推导和实现成立吗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9352" y="3081528"/>
            <a:ext cx="309067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59352" y="3218688"/>
            <a:ext cx="47548" cy="822959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3088" y="3218688"/>
            <a:ext cx="51206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F16C64"/>
                </a:solidFill>
                <a:latin typeface="宋体" panose="02010600030101010101" pitchFamily="2" charset="-122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3200400"/>
            <a:ext cx="2084831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证据够吗</a:t>
            </a:r>
            <a:r>
              <a:rPr sz="165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703320"/>
            <a:ext cx="2706624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强基线、消融、统计与替代解释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4325112"/>
            <a:ext cx="309067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4944" y="4462272"/>
            <a:ext cx="47548" cy="822959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4462272"/>
            <a:ext cx="51206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443984"/>
            <a:ext cx="2084831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结论越界吗</a:t>
            </a:r>
            <a:r>
              <a:rPr sz="165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946904"/>
            <a:ext cx="2706624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证据最多支持到哪里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9352" y="4325112"/>
            <a:ext cx="309067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59352" y="4462272"/>
            <a:ext cx="47548" cy="822959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33088" y="4462272"/>
            <a:ext cx="512064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27448" y="4443984"/>
            <a:ext cx="2084831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能复现吗</a:t>
            </a:r>
            <a:r>
              <a:rPr sz="1650" b="1" i="0" dirty="0">
                <a:solidFill>
                  <a:srgbClr val="18334D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4946904"/>
            <a:ext cx="2706624" cy="34747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数据、代码与参数是否足够</a:t>
            </a:r>
            <a:r>
              <a:rPr sz="12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15783" y="1856231"/>
            <a:ext cx="4023360" cy="3694176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2039112"/>
            <a:ext cx="3520440" cy="4754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一条高质量</a:t>
            </a:r>
            <a:r>
              <a:rPr sz="17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 Reviewer Comment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08392" y="2788920"/>
            <a:ext cx="45720" cy="292608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36408" y="2706624"/>
            <a:ext cx="1280160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dirty="0">
                <a:solidFill>
                  <a:srgbClr val="B5CAE0"/>
                </a:solidFill>
                <a:latin typeface="宋体" panose="02010600030101010101" pitchFamily="2" charset="-122"/>
              </a:rPr>
              <a:t>CLAIM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2706624"/>
            <a:ext cx="21031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作者声称</a:t>
            </a:r>
            <a:r>
              <a:rPr sz="1290" b="0" i="0" dirty="0">
                <a:solidFill>
                  <a:srgbClr val="FFFFFF"/>
                </a:solidFill>
                <a:latin typeface="宋体" panose="02010600030101010101" pitchFamily="2" charset="-122"/>
              </a:rPr>
              <a:t> 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08392" y="3328415"/>
            <a:ext cx="45720" cy="292608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836408" y="3246120"/>
            <a:ext cx="1280160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dirty="0">
                <a:solidFill>
                  <a:srgbClr val="B5CAE0"/>
                </a:solidFill>
                <a:latin typeface="宋体" panose="02010600030101010101" pitchFamily="2" charset="-122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3246120"/>
            <a:ext cx="21031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证据</a:t>
            </a:r>
            <a:r>
              <a:rPr sz="1290" b="0" i="0" dirty="0">
                <a:solidFill>
                  <a:srgbClr val="FFFFFF"/>
                </a:solidFill>
                <a:latin typeface="宋体" panose="02010600030101010101" pitchFamily="2" charset="-122"/>
              </a:rPr>
              <a:t> Y </a:t>
            </a:r>
            <a:r>
              <a:rPr sz="1290" b="0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只支持到</a:t>
            </a:r>
            <a:r>
              <a:rPr sz="1290" b="0" i="0" dirty="0">
                <a:solidFill>
                  <a:srgbClr val="FFFFFF"/>
                </a:solidFill>
                <a:latin typeface="宋体" panose="02010600030101010101" pitchFamily="2" charset="-122"/>
              </a:rPr>
              <a:t> 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08392" y="3867911"/>
            <a:ext cx="45720" cy="292608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836408" y="3785615"/>
            <a:ext cx="1280160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dirty="0">
                <a:solidFill>
                  <a:srgbClr val="B5CAE0"/>
                </a:solidFill>
                <a:latin typeface="宋体" panose="02010600030101010101" pitchFamily="2" charset="-122"/>
              </a:rPr>
              <a:t>CONCERN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3785615"/>
            <a:ext cx="21031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仍可能存在解释</a:t>
            </a:r>
            <a:r>
              <a:rPr sz="1290" b="0" i="0" dirty="0">
                <a:solidFill>
                  <a:srgbClr val="FFFFFF"/>
                </a:solidFill>
                <a:latin typeface="宋体" panose="02010600030101010101" pitchFamily="2" charset="-122"/>
              </a:rPr>
              <a:t> Z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08392" y="4407408"/>
            <a:ext cx="45720" cy="292608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36408" y="4325112"/>
            <a:ext cx="1280160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dirty="0">
                <a:solidFill>
                  <a:srgbClr val="B5CAE0"/>
                </a:solidFill>
                <a:latin typeface="宋体" panose="02010600030101010101" pitchFamily="2" charset="-122"/>
              </a:rPr>
              <a:t>NEEDED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4325112"/>
            <a:ext cx="21031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需要补充对照</a:t>
            </a:r>
            <a:r>
              <a:rPr sz="1290" b="0" i="0" dirty="0">
                <a:solidFill>
                  <a:srgbClr val="FFFFFF"/>
                </a:solidFill>
                <a:latin typeface="宋体" panose="02010600030101010101" pitchFamily="2" charset="-122"/>
              </a:rPr>
              <a:t> 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08392" y="4946904"/>
            <a:ext cx="45720" cy="292608"/>
          </a:xfrm>
          <a:prstGeom prst="rect">
            <a:avLst/>
          </a:prstGeom>
          <a:solidFill>
            <a:srgbClr val="B6C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836408" y="4864608"/>
            <a:ext cx="1280160" cy="35661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 dirty="0">
                <a:solidFill>
                  <a:srgbClr val="B5CAE0"/>
                </a:solidFill>
                <a:latin typeface="宋体" panose="02010600030101010101" pitchFamily="2" charset="-122"/>
              </a:rPr>
              <a:t>BOUNDARY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25712" y="4864608"/>
            <a:ext cx="210312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0" i="0" dirty="0" err="1">
                <a:solidFill>
                  <a:srgbClr val="FFFFFF"/>
                </a:solidFill>
                <a:latin typeface="宋体" panose="02010600030101010101" pitchFamily="2" charset="-122"/>
              </a:rPr>
              <a:t>否则结论应收窄到</a:t>
            </a:r>
            <a:r>
              <a:rPr sz="1290" b="0" i="0" dirty="0">
                <a:solidFill>
                  <a:srgbClr val="FFFFFF"/>
                </a:solidFill>
                <a:latin typeface="宋体" panose="02010600030101010101" pitchFamily="2" charset="-122"/>
              </a:rPr>
              <a:t> 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607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阅读判断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·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什么是一篇好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Paper？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1099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一篇好</a:t>
            </a:r>
            <a:r>
              <a:rPr kumimoji="0" sz="290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Paper，可以好在不同的地方</a:t>
            </a:r>
            <a:endParaRPr kumimoji="0" sz="290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57607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如何读</a:t>
            </a:r>
            <a:r>
              <a: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Paper｜从理解到核验</a:t>
            </a:r>
            <a:endParaRPr kumimoji="0" sz="950" b="0" i="0" u="none" strike="noStrike" kern="1200" cap="none" spc="0" normalizeH="0" baseline="0" noProof="0" dirty="0">
              <a:ln>
                <a:noFill/>
              </a:ln>
              <a:solidFill>
                <a:srgbClr val="667085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3200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491372"/>
            <a:ext cx="3602736" cy="17922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665108"/>
            <a:ext cx="50292" cy="14356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57016" y="1674253"/>
            <a:ext cx="365760" cy="237744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84448" y="1715401"/>
            <a:ext cx="3017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1665108"/>
            <a:ext cx="27432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1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Well-motivated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085732"/>
            <a:ext cx="315468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6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问题立得住</a:t>
            </a:r>
            <a:endParaRPr kumimoji="0" sz="166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722376" y="2510928"/>
            <a:ext cx="3118104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2376" y="2652661"/>
            <a:ext cx="309067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真实需求与清楚的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Gap；
</a:t>
            </a: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不为套方法而制造问题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491372"/>
            <a:ext cx="3602736" cy="17922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306824" y="1665108"/>
            <a:ext cx="50292" cy="1435608"/>
          </a:xfrm>
          <a:prstGeom prst="rect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60920" y="1674253"/>
            <a:ext cx="365760" cy="237744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352" y="1715401"/>
            <a:ext cx="3017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665108"/>
            <a:ext cx="27432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10" b="1" i="0" u="none" strike="noStrike" kern="1200" cap="none" spc="0" normalizeH="0" baseline="0" noProof="0" dirty="0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Very novel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085732"/>
            <a:ext cx="315468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6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确实有新意</a:t>
            </a:r>
            <a:endParaRPr kumimoji="0" sz="166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526280" y="2510928"/>
            <a:ext cx="3118104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26280" y="2652661"/>
            <a:ext cx="309067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新问题、新视角或新机制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
</a:t>
            </a: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不是简单增加模块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4" y="1491372"/>
            <a:ext cx="3602736" cy="17922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110727" y="1665108"/>
            <a:ext cx="50292" cy="1435608"/>
          </a:xfrm>
          <a:prstGeom prst="rect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1164824" y="1674253"/>
            <a:ext cx="365760" cy="237744"/>
          </a:xfrm>
          <a:prstGeom prst="roundRect">
            <a:avLst/>
          </a:prstGeom>
          <a:solidFill>
            <a:srgbClr val="FF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92256" y="1715401"/>
            <a:ext cx="3017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1665108"/>
            <a:ext cx="27432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10" b="1" i="0" u="none" strike="noStrike" kern="1200" cap="none" spc="0" normalizeH="0" baseline="0" noProof="0" dirty="0">
                <a:ln>
                  <a:noFill/>
                </a:ln>
                <a:solidFill>
                  <a:srgbClr val="F4A34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Elegant / Clean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2085732"/>
            <a:ext cx="315468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6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思路干净漂亮</a:t>
            </a:r>
            <a:endParaRPr kumimoji="0" sz="166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330184" y="2510928"/>
            <a:ext cx="3118104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30184" y="2652661"/>
            <a:ext cx="309067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用清楚、简洁的设计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
</a:t>
            </a: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抓住问题的关键矛盾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" y="3448189"/>
            <a:ext cx="3602736" cy="17922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02920" y="3621925"/>
            <a:ext cx="50292" cy="1435608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557016" y="3631069"/>
            <a:ext cx="365760" cy="237744"/>
          </a:xfrm>
          <a:prstGeom prst="round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84448" y="3672217"/>
            <a:ext cx="3017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148A8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621925"/>
            <a:ext cx="27432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10" b="1" i="0" u="none" strike="noStrike" kern="1200" cap="none" spc="0" normalizeH="0" baseline="0" noProof="0" dirty="0">
                <a:ln>
                  <a:noFill/>
                </a:ln>
                <a:solidFill>
                  <a:srgbClr val="148A8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Well-executed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4042549"/>
            <a:ext cx="315468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6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研究做得扎实</a:t>
            </a:r>
            <a:endParaRPr kumimoji="0" sz="166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722376" y="4467745"/>
            <a:ext cx="3118104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2376" y="4609477"/>
            <a:ext cx="309067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公平对照、强基线、消融与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
</a:t>
            </a: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失败分析经得起追问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448189"/>
            <a:ext cx="3602736" cy="17922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306824" y="3621925"/>
            <a:ext cx="50292" cy="1435608"/>
          </a:xfrm>
          <a:prstGeom prst="rect">
            <a:avLst/>
          </a:prstGeom>
          <a:solidFill>
            <a:srgbClr val="19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360920" y="3631069"/>
            <a:ext cx="365760" cy="237744"/>
          </a:xfrm>
          <a:prstGeom prst="roundRect">
            <a:avLst/>
          </a:prstGeom>
          <a:solidFill>
            <a:srgbClr val="EA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388352" y="3672217"/>
            <a:ext cx="3017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WHY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6280" y="3621925"/>
            <a:ext cx="27432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10" b="1" i="0" u="none" strike="noStrike" kern="1200" cap="none" spc="0" normalizeH="0" baseline="0" noProof="0" dirty="0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Insightful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4042549"/>
            <a:ext cx="315468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6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带来新的理解</a:t>
            </a:r>
            <a:endParaRPr kumimoji="0" sz="166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526280" y="4467745"/>
            <a:ext cx="3118104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26280" y="4609477"/>
            <a:ext cx="309067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解释为什么有效，揭示规律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；
</a:t>
            </a: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不只是报告一个更高分数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01584" y="3448189"/>
            <a:ext cx="3602736" cy="17922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110727" y="3621925"/>
            <a:ext cx="50292" cy="1435608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164824" y="3631069"/>
            <a:ext cx="365760" cy="237744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1192256" y="3672217"/>
            <a:ext cx="3017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USE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0184" y="3621925"/>
            <a:ext cx="2743200" cy="263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1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Useful / Impactful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0184" y="4042549"/>
            <a:ext cx="3154680" cy="255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6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有长期的研究价值</a:t>
            </a:r>
            <a:endParaRPr kumimoji="0" sz="166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8330184" y="4467745"/>
            <a:ext cx="3118104" cy="0"/>
          </a:xfrm>
          <a:prstGeom prst="line">
            <a:avLst/>
          </a:prstGeom>
          <a:ln w="10160">
            <a:solidFill>
              <a:srgbClr val="E7ED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330184" y="4609477"/>
            <a:ext cx="3090672" cy="4319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新的能力、数据、工具或证据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
</a:t>
            </a:r>
            <a:r>
              <a:rPr kumimoji="0" sz="128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能被后续研究真正使用</a:t>
            </a:r>
            <a:r>
              <a:rPr kumimoji="0" sz="128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4944" y="5952744"/>
            <a:ext cx="10799064" cy="429768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6968" y="6035040"/>
            <a:ext cx="10396728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10" b="1" i="0" u="none" strike="noStrike" kern="1200" cap="none" spc="0" normalizeH="0" baseline="0" noProof="0" dirty="0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关键观点：好论文不必“</a:t>
            </a:r>
            <a:r>
              <a:rPr kumimoji="0" sz="1610" b="1" i="0" u="none" strike="noStrike" kern="1200" cap="none" spc="0" normalizeH="0" baseline="0" noProof="0" dirty="0" err="1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六边形战士</a:t>
            </a:r>
            <a:r>
              <a:rPr kumimoji="0" sz="1610" b="1" i="0" u="none" strike="noStrike" kern="1200" cap="none" spc="0" normalizeH="0" baseline="0" noProof="0" dirty="0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”；</a:t>
            </a:r>
            <a:r>
              <a:rPr kumimoji="0" sz="1610" b="1" i="0" u="none" strike="noStrike" kern="1200" cap="none" spc="0" normalizeH="0" baseline="0" noProof="0" dirty="0" err="1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可以有突出的长板，但正确性与证据可信是基本底线</a:t>
            </a:r>
            <a:r>
              <a:rPr kumimoji="0" sz="1610" b="1" i="0" u="none" strike="noStrike" kern="1200" cap="none" spc="0" normalizeH="0" baseline="0" noProof="0" dirty="0">
                <a:ln>
                  <a:noFill/>
                </a:ln>
                <a:solidFill>
                  <a:srgbClr val="193B5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6070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Reviewer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视角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·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如何评价好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26B5B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1099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90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长板决定贡献，底线决定可信度</a:t>
            </a:r>
            <a:endParaRPr kumimoji="0" sz="290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362456"/>
            <a:ext cx="10744200" cy="203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2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评价不是给形容词打勾：先排除致命问题，再判断这项研究最有价值的增量</a:t>
            </a:r>
            <a:r>
              <a:rPr kumimoji="0" sz="132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57607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如何读</a:t>
            </a:r>
            <a:r>
              <a: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Paper｜从理解到核验</a:t>
            </a:r>
            <a:endParaRPr kumimoji="0" sz="950" b="0" i="0" u="none" strike="noStrike" kern="1200" cap="none" spc="0" normalizeH="0" baseline="0" noProof="0" dirty="0">
              <a:ln>
                <a:noFill/>
              </a:ln>
              <a:solidFill>
                <a:srgbClr val="667085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47120" y="6537960"/>
            <a:ext cx="32004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4690872" cy="1636776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9436" cy="1636776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2075688"/>
            <a:ext cx="4178808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10" b="1" i="0" u="none" strike="noStrike" kern="1200" cap="none" spc="0" normalizeH="0" baseline="0" noProof="0" dirty="0" err="1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必须守住的底线</a:t>
            </a:r>
            <a:r>
              <a:rPr kumimoji="0" sz="141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/  SOUNDNESS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78024"/>
            <a:ext cx="4160520" cy="264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2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方法正确</a:t>
            </a:r>
            <a:r>
              <a:rPr kumimoji="0" sz="172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· </a:t>
            </a:r>
            <a:r>
              <a:rPr kumimoji="0" sz="172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对照公平</a:t>
            </a:r>
            <a:r>
              <a:rPr kumimoji="0" sz="172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· </a:t>
            </a:r>
            <a:r>
              <a:rPr kumimoji="0" sz="172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主张有证据</a:t>
            </a:r>
            <a:endParaRPr kumimoji="0" sz="172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8096" y="2944368"/>
            <a:ext cx="4078224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6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重大技术漏洞、数据泄漏、过度推断</a:t>
            </a:r>
            <a:r>
              <a:rPr kumimoji="0" sz="126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，
</a:t>
            </a:r>
            <a:r>
              <a:rPr kumimoji="0" sz="126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无法仅凭</a:t>
            </a:r>
            <a:r>
              <a:rPr kumimoji="0" sz="126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Very novel </a:t>
            </a:r>
            <a:r>
              <a:rPr kumimoji="0" sz="126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来弥补</a:t>
            </a:r>
            <a:r>
              <a:rPr kumimoji="0" sz="126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58184"/>
            <a:ext cx="4690872" cy="1746504"/>
          </a:xfrm>
          <a:prstGeom prst="roundRect">
            <a:avLst/>
          </a:prstGeom>
          <a:solidFill>
            <a:srgbClr val="E8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3758184"/>
            <a:ext cx="59436" cy="1746504"/>
          </a:xfrm>
          <a:prstGeom prst="rect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" y="3959352"/>
            <a:ext cx="4160520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10" b="1" i="0" u="none" strike="noStrike" kern="1200" cap="none" spc="0" normalizeH="0" baseline="0" noProof="0" dirty="0" err="1">
                <a:ln>
                  <a:noFill/>
                </a:ln>
                <a:solidFill>
                  <a:srgbClr val="148A8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至少一个突出的长板</a:t>
            </a:r>
            <a:r>
              <a:rPr kumimoji="0" sz="1410" b="1" i="0" u="none" strike="noStrike" kern="1200" cap="none" spc="0" normalizeH="0" baseline="0" noProof="0" dirty="0">
                <a:ln>
                  <a:noFill/>
                </a:ln>
                <a:solidFill>
                  <a:srgbClr val="148A8A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 /  STANDOUT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379976"/>
            <a:ext cx="4187952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5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Motivation / Novelty / Execution /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846320"/>
            <a:ext cx="4078224" cy="381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不一定要提出新模型；高质量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Benchmark、
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可信负结果、简单有效的方法也可能出色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1874519"/>
            <a:ext cx="6245352" cy="3639312"/>
          </a:xfrm>
          <a:prstGeom prst="roundRect">
            <a:avLst/>
          </a:prstGeom>
          <a:solidFill>
            <a:srgbClr val="F8FAFD"/>
          </a:solidFill>
          <a:ln w="1143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96712" y="2057400"/>
            <a:ext cx="5468112" cy="281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3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Reviewer </a:t>
            </a:r>
            <a:r>
              <a:rPr kumimoji="0" sz="1830" b="1" i="0" u="none" strike="noStrike" kern="1200" cap="none" spc="0" normalizeH="0" baseline="0" noProof="0" dirty="0" err="1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会怎么说</a:t>
            </a:r>
            <a:r>
              <a:rPr kumimoji="0" sz="183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？</a:t>
            </a:r>
          </a:p>
        </p:txBody>
      </p:sp>
      <p:sp>
        <p:nvSpPr>
          <p:cNvPr id="19" name="Oval 18"/>
          <p:cNvSpPr/>
          <p:nvPr/>
        </p:nvSpPr>
        <p:spPr>
          <a:xfrm>
            <a:off x="5705856" y="2651760"/>
            <a:ext cx="320040" cy="320040"/>
          </a:xfrm>
          <a:prstGeom prst="ellipse">
            <a:avLst/>
          </a:prstGeom>
          <a:solidFill>
            <a:srgbClr val="F2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624328"/>
            <a:ext cx="510235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“Very novel, but under-validated.”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980944"/>
            <a:ext cx="5065776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1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创意很新，但关键对照或独立证据不足</a:t>
            </a:r>
            <a:r>
              <a:rPr kumimoji="0" sz="121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33288" y="3364992"/>
            <a:ext cx="5632704" cy="0"/>
          </a:xfrm>
          <a:prstGeom prst="line">
            <a:avLst/>
          </a:prstGeom>
          <a:ln w="12700">
            <a:solidFill>
              <a:srgbClr val="E1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705856" y="3575303"/>
            <a:ext cx="320040" cy="320040"/>
          </a:xfrm>
          <a:prstGeom prst="ellipse">
            <a:avLst/>
          </a:prstGeom>
          <a:solidFill>
            <a:srgbClr val="14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547872"/>
            <a:ext cx="510235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“Not radically novel, but well-executed.”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3904487"/>
            <a:ext cx="5065776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1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不算颠覆性，却有扎实、可靠的实质贡献</a:t>
            </a:r>
            <a:r>
              <a:rPr kumimoji="0" sz="121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33288" y="4288536"/>
            <a:ext cx="5632704" cy="0"/>
          </a:xfrm>
          <a:prstGeom prst="line">
            <a:avLst/>
          </a:prstGeom>
          <a:ln w="12700">
            <a:solidFill>
              <a:srgbClr val="E1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705856" y="4498848"/>
            <a:ext cx="320040" cy="320040"/>
          </a:xfrm>
          <a:prstGeom prst="ellipse">
            <a:avLst/>
          </a:prstGeom>
          <a:solidFill>
            <a:srgbClr val="F4A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4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4471416"/>
            <a:ext cx="5102352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“Well-motivated, but the gain is unclear.”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4828032"/>
            <a:ext cx="5065776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1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问题重要，但相比最强基线的优势不清楚</a:t>
            </a:r>
            <a:r>
              <a:rPr kumimoji="0" sz="121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806440"/>
            <a:ext cx="10945368" cy="566928"/>
          </a:xfrm>
          <a:prstGeom prst="roundRect">
            <a:avLst/>
          </a:prstGeom>
          <a:solidFill>
            <a:srgbClr val="19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4672" y="5952744"/>
            <a:ext cx="10588752" cy="2323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1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给学生的练习：用两个形容词</a:t>
            </a:r>
            <a:r>
              <a:rPr kumimoji="0" sz="151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+ </a:t>
            </a:r>
            <a:r>
              <a:rPr kumimoji="0" sz="151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一条</a:t>
            </a:r>
            <a:r>
              <a:rPr kumimoji="0" sz="151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Evidence </a:t>
            </a:r>
            <a:r>
              <a:rPr kumimoji="0" sz="151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评价一篇</a:t>
            </a:r>
            <a:r>
              <a:rPr kumimoji="0" sz="151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sz="151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Paper；再说一个最重要的</a:t>
            </a:r>
            <a:r>
              <a:rPr kumimoji="0" sz="151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Limit。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AI-ASSISTED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让 AI </a:t>
            </a: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帮你定位与拆解，但不要替你下结论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15  /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682495"/>
            <a:ext cx="5248656" cy="3529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" y="1682495"/>
            <a:ext cx="5248656" cy="73152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65376"/>
            <a:ext cx="4663440" cy="4206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适合让</a:t>
            </a:r>
            <a:r>
              <a:rPr sz="20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 AI 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82495"/>
            <a:ext cx="5248656" cy="3529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1682495"/>
            <a:ext cx="5248656" cy="73152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1865376"/>
            <a:ext cx="4663440" cy="4206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 err="1">
                <a:solidFill>
                  <a:srgbClr val="F16C64"/>
                </a:solidFill>
                <a:latin typeface="宋体" panose="02010600030101010101" pitchFamily="2" charset="-122"/>
              </a:rPr>
              <a:t>不能让</a:t>
            </a:r>
            <a:r>
              <a:rPr sz="2000" b="1" i="0" dirty="0">
                <a:solidFill>
                  <a:srgbClr val="F16C64"/>
                </a:solidFill>
                <a:latin typeface="宋体" panose="02010600030101010101" pitchFamily="2" charset="-122"/>
              </a:rPr>
              <a:t> AI </a:t>
            </a:r>
            <a:r>
              <a:rPr sz="2000" b="1" i="0" dirty="0" err="1">
                <a:solidFill>
                  <a:srgbClr val="F16C64"/>
                </a:solidFill>
                <a:latin typeface="宋体" panose="02010600030101010101" pitchFamily="2" charset="-122"/>
              </a:rPr>
              <a:t>替你做</a:t>
            </a:r>
            <a:endParaRPr sz="2000" b="1" i="0" dirty="0">
              <a:solidFill>
                <a:srgbClr val="F16C64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23544" y="2560320"/>
            <a:ext cx="201168" cy="20116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46604"/>
            <a:ext cx="219456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14600"/>
            <a:ext cx="4352544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解释陌生概念与公式</a:t>
            </a:r>
            <a:endParaRPr sz="141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55664" y="2560320"/>
            <a:ext cx="201168" cy="20116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549347"/>
            <a:ext cx="164592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514600"/>
            <a:ext cx="4361688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把摘要当作完整的论文事实</a:t>
            </a:r>
            <a:endParaRPr sz="135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23544" y="3063240"/>
            <a:ext cx="201168" cy="20116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049524"/>
            <a:ext cx="219456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017520"/>
            <a:ext cx="4352544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定位原文、附录及相关证据</a:t>
            </a:r>
            <a:endParaRPr sz="141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455664" y="3063240"/>
            <a:ext cx="201168" cy="20116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3052267"/>
            <a:ext cx="164592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9712" y="3017520"/>
            <a:ext cx="4361688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接受没有原文出处的数字与结论</a:t>
            </a:r>
            <a:endParaRPr sz="135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923544" y="3566160"/>
            <a:ext cx="201168" cy="20116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3552444"/>
            <a:ext cx="219456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520440"/>
            <a:ext cx="4352544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抽取数据、参数与流程</a:t>
            </a:r>
            <a:endParaRPr sz="141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55664" y="3566160"/>
            <a:ext cx="201168" cy="20116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3555187"/>
            <a:ext cx="164592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9712" y="3520440"/>
            <a:ext cx="4361688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跳过图表、补充材料与代码</a:t>
            </a:r>
            <a:endParaRPr sz="135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23544" y="4069079"/>
            <a:ext cx="201168" cy="20116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055363"/>
            <a:ext cx="219456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023359"/>
            <a:ext cx="4352544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比较方法、实验和</a:t>
            </a:r>
            <a:r>
              <a:rPr sz="141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Related Work</a:t>
            </a:r>
          </a:p>
        </p:txBody>
      </p:sp>
      <p:sp>
        <p:nvSpPr>
          <p:cNvPr id="36" name="Oval 35"/>
          <p:cNvSpPr/>
          <p:nvPr/>
        </p:nvSpPr>
        <p:spPr>
          <a:xfrm>
            <a:off x="6455664" y="4069079"/>
            <a:ext cx="201168" cy="20116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4058107"/>
            <a:ext cx="164592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4023359"/>
            <a:ext cx="4361688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替作者补全未披露的细节</a:t>
            </a:r>
            <a:endParaRPr sz="135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923544" y="4571999"/>
            <a:ext cx="201168" cy="201168"/>
          </a:xfrm>
          <a:prstGeom prst="ellipse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4558283"/>
            <a:ext cx="219456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526279"/>
            <a:ext cx="4352544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1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生成问题清单与复现检查表</a:t>
            </a:r>
            <a:endParaRPr sz="141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455664" y="4571999"/>
            <a:ext cx="201168" cy="201168"/>
          </a:xfrm>
          <a:prstGeom prst="ellipse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561027"/>
            <a:ext cx="164592" cy="22860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宋体" panose="02010600030101010101" pitchFamily="2" charset="-122"/>
              </a:rPr>
              <a:t>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712" y="4526279"/>
            <a:ext cx="4361688" cy="28346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直接替你决定“创新”与“正确</a:t>
            </a:r>
            <a:r>
              <a:rPr sz="1350" b="0" i="0" dirty="0">
                <a:solidFill>
                  <a:srgbClr val="18334D"/>
                </a:solidFill>
                <a:latin typeface="宋体" panose="02010600030101010101" pitchFamily="2" charset="-122"/>
              </a:rPr>
              <a:t>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REUSABLE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一页论文阅读记录：把理解变成可追溯的输出</a:t>
            </a:r>
            <a:endParaRPr sz="2900" b="1" i="0" dirty="0">
              <a:solidFill>
                <a:srgbClr val="102A43"/>
              </a:solidFill>
              <a:latin typeface="宋体" panose="02010600030101010101" pitchFamily="2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16  /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636776"/>
            <a:ext cx="5303520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773936"/>
            <a:ext cx="47548" cy="859536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1792224"/>
            <a:ext cx="64008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783080"/>
            <a:ext cx="410565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基本信息</a:t>
            </a:r>
            <a:r>
              <a:rPr sz="1700" b="1" i="0" dirty="0">
                <a:solidFill>
                  <a:srgbClr val="18334D"/>
                </a:solidFill>
                <a:latin typeface="宋体" panose="02010600030101010101" pitchFamily="2" charset="-122"/>
              </a:rPr>
              <a:t> + </a:t>
            </a: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一句话概括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81912" y="2221992"/>
            <a:ext cx="4050791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标题、作者、时间、venue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问题是什么？核心主张是什么</a:t>
            </a:r>
            <a:r>
              <a:rPr sz="128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36776"/>
            <a:ext cx="5303520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45352" y="1773936"/>
            <a:ext cx="47548" cy="859536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792224"/>
            <a:ext cx="64008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1783080"/>
            <a:ext cx="410565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方法与实质增量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14032" y="2221992"/>
            <a:ext cx="4050791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关键流程与机制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与最相关工作的真正区别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3232" y="2907791"/>
            <a:ext cx="5303520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" y="3044951"/>
            <a:ext cx="47548" cy="859536"/>
          </a:xfrm>
          <a:prstGeom prst="rect">
            <a:avLst/>
          </a:prstGeom>
          <a:solidFill>
            <a:srgbClr val="EE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3063239"/>
            <a:ext cx="64008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EEA23A"/>
                </a:solidFill>
                <a:latin typeface="宋体" panose="02010600030101010101" pitchFamily="2" charset="-122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054096"/>
            <a:ext cx="410565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关键数据与决策规则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81912" y="3493008"/>
            <a:ext cx="4050791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数据、阈值、采样与停止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人类与工具在哪些环节参与</a:t>
            </a:r>
            <a:r>
              <a:rPr sz="128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5352" y="2907791"/>
            <a:ext cx="5303520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45352" y="3044951"/>
            <a:ext cx="47548" cy="859536"/>
          </a:xfrm>
          <a:prstGeom prst="rect">
            <a:avLst/>
          </a:prstGeom>
          <a:solidFill>
            <a:srgbClr val="F16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3063239"/>
            <a:ext cx="64008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F16C64"/>
                </a:solidFill>
                <a:latin typeface="宋体" panose="02010600030101010101" pitchFamily="2" charset="-122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3054096"/>
            <a:ext cx="410565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实验证据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14032" y="3493008"/>
            <a:ext cx="4050791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核心数字、基线、指标、消融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哪项实验直接支持主张</a:t>
            </a:r>
            <a:r>
              <a:rPr sz="1280" b="0" i="0" dirty="0">
                <a:solidFill>
                  <a:srgbClr val="60748B"/>
                </a:solidFill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178808"/>
            <a:ext cx="5303520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" y="4315968"/>
            <a:ext cx="47548" cy="859536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3544" y="4334256"/>
            <a:ext cx="64008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4325112"/>
            <a:ext cx="410565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证据边界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81912" y="4764024"/>
            <a:ext cx="4050791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已经支持的结论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尚不足、未披露或待验证之处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45352" y="4178808"/>
            <a:ext cx="5303520" cy="11338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45352" y="4315968"/>
            <a:ext cx="47548" cy="859536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4334256"/>
            <a:ext cx="640080" cy="36576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04888" y="4325112"/>
            <a:ext cx="4105656" cy="37490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我的判断与下一步</a:t>
            </a:r>
            <a:endParaRPr sz="170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14032" y="4764024"/>
            <a:ext cx="4050791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最值得复用与最重要的局限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一个问题</a:t>
            </a:r>
            <a:r>
              <a:rPr sz="1280" b="0" i="0" dirty="0">
                <a:solidFill>
                  <a:srgbClr val="60748B"/>
                </a:solidFill>
                <a:latin typeface="宋体" panose="02010600030101010101" pitchFamily="2" charset="-122"/>
              </a:rPr>
              <a:t> + </a:t>
            </a:r>
            <a:r>
              <a:rPr sz="128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最小验证实验</a:t>
            </a:r>
            <a:endParaRPr sz="1280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22376" y="5541264"/>
            <a:ext cx="10808208" cy="301752"/>
          </a:xfrm>
          <a:prstGeom prst="roundRect">
            <a:avLst>
              <a:gd name="adj" fmla="val 7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3544" y="5559552"/>
            <a:ext cx="10360152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每条关键结论最好能回到具体图表、附录、代码或数据位置</a:t>
            </a:r>
            <a:r>
              <a:rPr sz="1280" b="1" i="0" dirty="0">
                <a:solidFill>
                  <a:srgbClr val="366DF4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893B08B-A5CD-00F9-4A19-0146244CE2D1}"/>
              </a:ext>
            </a:extLst>
          </p:cNvPr>
          <p:cNvSpPr txBox="1"/>
          <p:nvPr/>
        </p:nvSpPr>
        <p:spPr>
          <a:xfrm>
            <a:off x="694944" y="6024110"/>
            <a:ext cx="6909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Why-what-how-so what: follow</a:t>
            </a:r>
            <a:r>
              <a:rPr lang="zh-CN" altLang="en-US" dirty="0"/>
              <a:t>你自己的习惯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21207" y="329184"/>
            <a:ext cx="59436" cy="603504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94944" y="301752"/>
            <a:ext cx="9144000" cy="2560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PERSONAL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630936"/>
            <a:ext cx="11082528" cy="46634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 dirty="0" err="1">
                <a:solidFill>
                  <a:srgbClr val="102A43"/>
                </a:solidFill>
                <a:latin typeface="宋体" panose="02010600030101010101" pitchFamily="2" charset="-122"/>
              </a:rPr>
              <a:t>我平时怎样发现值得读的</a:t>
            </a:r>
            <a:r>
              <a:rPr sz="2900" b="1" i="0" dirty="0">
                <a:solidFill>
                  <a:srgbClr val="102A43"/>
                </a:solidFill>
                <a:latin typeface="宋体" panose="02010600030101010101" pitchFamily="2" charset="-122"/>
              </a:rPr>
              <a:t> Paper？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62456"/>
            <a:ext cx="10853928" cy="0"/>
          </a:xfrm>
          <a:prstGeom prst="line">
            <a:avLst/>
          </a:prstGeom>
          <a:ln w="1143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85800" y="6510528"/>
            <a:ext cx="10835640" cy="0"/>
          </a:xfrm>
          <a:prstGeom prst="line">
            <a:avLst/>
          </a:prstGeom>
          <a:ln w="10160">
            <a:solidFill>
              <a:srgbClr val="DFE7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04088" y="6528816"/>
            <a:ext cx="73152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 dirty="0">
                <a:solidFill>
                  <a:srgbClr val="60748B"/>
                </a:solidFill>
                <a:latin typeface="宋体" panose="02010600030101010101" pitchFamily="2" charset="-122"/>
              </a:rPr>
              <a:t>HOW TO READ A PAPER  ·  RESEARCH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28816"/>
            <a:ext cx="685800" cy="21031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60748B"/>
                </a:solidFill>
                <a:latin typeface="宋体" panose="02010600030101010101" pitchFamily="2" charset="-122"/>
              </a:rPr>
              <a:t>17  /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1645919"/>
            <a:ext cx="10808208" cy="713232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746504"/>
            <a:ext cx="10195560" cy="484632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坦白说，很</a:t>
            </a:r>
            <a:r>
              <a:rPr lang="zh-CN" altLang="en-US" sz="1900" b="1" i="0" dirty="0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多时候</a:t>
            </a:r>
            <a:r>
              <a:rPr sz="1900" b="1" i="0" dirty="0" err="1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我读</a:t>
            </a:r>
            <a:r>
              <a:rPr sz="1900" b="1" i="0" dirty="0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 Paper </a:t>
            </a:r>
            <a:r>
              <a:rPr sz="1900" b="1" i="0" dirty="0" err="1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是从兴趣出发</a:t>
            </a:r>
            <a:r>
              <a:rPr sz="1900" b="1" i="0" dirty="0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，</a:t>
            </a:r>
            <a:r>
              <a:rPr lang="zh-CN" altLang="en-US" sz="1900" b="1" i="0" dirty="0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甚至</a:t>
            </a:r>
            <a:r>
              <a:rPr sz="1900" b="1" i="0" dirty="0" err="1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没有明确目的</a:t>
            </a:r>
            <a:r>
              <a:rPr sz="1900" b="1" i="0" dirty="0">
                <a:solidFill>
                  <a:srgbClr val="FFFFFF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569463"/>
            <a:ext cx="5202936" cy="2423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2376" y="2706623"/>
            <a:ext cx="47548" cy="2148840"/>
          </a:xfrm>
          <a:prstGeom prst="rect">
            <a:avLst/>
          </a:prstGeom>
          <a:solidFill>
            <a:srgbClr val="366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548" y="2629577"/>
            <a:ext cx="4480560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兴趣驱动</a:t>
            </a:r>
            <a:r>
              <a:rPr sz="19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  ·  </a:t>
            </a:r>
            <a:r>
              <a:rPr sz="190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广泛接触</a:t>
            </a:r>
            <a:endParaRPr sz="1900" b="1" i="0" dirty="0">
              <a:solidFill>
                <a:srgbClr val="366DF4"/>
              </a:solidFill>
              <a:latin typeface="宋体" panose="02010600030101010101" pitchFamily="2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6404" y="3067812"/>
            <a:ext cx="4608576" cy="7223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大家交流</a:t>
            </a:r>
            <a:r>
              <a:rPr sz="160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/ </a:t>
            </a:r>
            <a:r>
              <a:rPr sz="16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公众号</a:t>
            </a:r>
            <a:r>
              <a:rPr sz="160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/ </a:t>
            </a:r>
            <a:r>
              <a:rPr sz="16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抖音</a:t>
            </a:r>
            <a:r>
              <a:rPr sz="160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</a:t>
            </a:r>
            <a:r>
              <a:rPr lang="en-US" sz="1600" b="0" i="0" dirty="0">
                <a:solidFill>
                  <a:srgbClr val="18334D"/>
                </a:solidFill>
                <a:latin typeface="宋体" panose="02010600030101010101" pitchFamily="2" charset="-122"/>
              </a:rPr>
              <a:t>/ </a:t>
            </a:r>
            <a:r>
              <a:rPr sz="16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小红书</a:t>
            </a:r>
            <a:endParaRPr sz="160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群里被</a:t>
            </a:r>
            <a:r>
              <a:rPr sz="160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@ / Dot </a:t>
            </a:r>
            <a:r>
              <a:rPr sz="1600" b="0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推荐</a:t>
            </a:r>
            <a:r>
              <a:rPr lang="en-US" sz="1600" b="0" i="0" dirty="0">
                <a:solidFill>
                  <a:srgbClr val="18334D"/>
                </a:solidFill>
                <a:latin typeface="宋体" panose="02010600030101010101" pitchFamily="2" charset="-122"/>
              </a:rPr>
              <a:t> / daily papers</a:t>
            </a:r>
            <a:endParaRPr sz="1600" b="0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540" y="4411979"/>
            <a:ext cx="4544568" cy="411480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7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看到有趣的新方法或现象，就顺手读一读</a:t>
            </a:r>
            <a:r>
              <a:rPr sz="137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569463"/>
            <a:ext cx="5321808" cy="24231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0160">
            <a:solidFill>
              <a:srgbClr val="DF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44768" y="2706623"/>
            <a:ext cx="47548" cy="2148840"/>
          </a:xfrm>
          <a:prstGeom prst="rect">
            <a:avLst/>
          </a:prstGeom>
          <a:solidFill>
            <a:srgbClr val="109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2779776"/>
            <a:ext cx="4617720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问题驱动</a:t>
            </a:r>
            <a:r>
              <a:rPr sz="19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  ·  </a:t>
            </a:r>
            <a:r>
              <a:rPr sz="1900" b="1" i="0" dirty="0" err="1">
                <a:solidFill>
                  <a:srgbClr val="10999C"/>
                </a:solidFill>
                <a:latin typeface="宋体" panose="02010600030101010101" pitchFamily="2" charset="-122"/>
              </a:rPr>
              <a:t>逐渐收敛</a:t>
            </a:r>
            <a:endParaRPr sz="1900" b="1" i="0" dirty="0">
              <a:solidFill>
                <a:srgbClr val="10999C"/>
              </a:solidFill>
              <a:latin typeface="宋体" panose="02010600030101010101" pitchFamily="2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28232" y="3447287"/>
            <a:ext cx="1408176" cy="667512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83096" y="3511296"/>
            <a:ext cx="1307592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 dirty="0">
                <a:solidFill>
                  <a:srgbClr val="18334D"/>
                </a:solidFill>
                <a:latin typeface="宋体" panose="02010600030101010101" pitchFamily="2" charset="-122"/>
              </a:rPr>
              <a:t>Idea </a:t>
            </a:r>
            <a:r>
              <a:rPr sz="121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聚焦</a:t>
            </a:r>
            <a:endParaRPr sz="121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64808" y="3767328"/>
            <a:ext cx="1344168" cy="21945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明确研究问题</a:t>
            </a:r>
            <a:endParaRPr sz="969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90688" y="3575304"/>
            <a:ext cx="228600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3447287"/>
            <a:ext cx="1408176" cy="667512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0" y="3511296"/>
            <a:ext cx="1307592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 dirty="0">
                <a:solidFill>
                  <a:srgbClr val="18334D"/>
                </a:solidFill>
                <a:latin typeface="宋体" panose="02010600030101010101" pitchFamily="2" charset="-122"/>
              </a:rPr>
              <a:t>Seed paper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3767328"/>
            <a:ext cx="1344168" cy="21945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找到一篇种子文献</a:t>
            </a:r>
            <a:endParaRPr sz="969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54312" y="3575304"/>
            <a:ext cx="228600" cy="26517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10999C"/>
                </a:solidFill>
                <a:latin typeface="宋体" panose="02010600030101010101" pitchFamily="2" charset="-122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3447287"/>
            <a:ext cx="1408176" cy="667512"/>
          </a:xfrm>
          <a:prstGeom prst="roundRect">
            <a:avLst>
              <a:gd name="adj" fmla="val 8000"/>
            </a:avLst>
          </a:prstGeom>
          <a:solidFill>
            <a:srgbClr val="E7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10344" y="3511296"/>
            <a:ext cx="1307592" cy="24688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10" b="1" i="0" dirty="0" err="1">
                <a:solidFill>
                  <a:srgbClr val="18334D"/>
                </a:solidFill>
                <a:latin typeface="宋体" panose="02010600030101010101" pitchFamily="2" charset="-122"/>
              </a:rPr>
              <a:t>系统搜索</a:t>
            </a:r>
            <a:endParaRPr sz="1210" b="1" i="0" dirty="0">
              <a:solidFill>
                <a:srgbClr val="18334D"/>
              </a:solidFill>
              <a:latin typeface="宋体" panose="02010600030101010101" pitchFamily="2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92055" y="3767328"/>
            <a:ext cx="1344168" cy="219456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追引用、作者和基线</a:t>
            </a:r>
            <a:endParaRPr sz="969" b="0" i="0" dirty="0">
              <a:solidFill>
                <a:srgbClr val="60748B"/>
              </a:solidFill>
              <a:latin typeface="宋体" panose="02010600030101010101" pitchFamily="2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19088" y="4325112"/>
            <a:ext cx="4608576" cy="420624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 dirty="0" err="1">
                <a:solidFill>
                  <a:srgbClr val="60748B"/>
                </a:solidFill>
                <a:latin typeface="宋体" panose="02010600030101010101" pitchFamily="2" charset="-122"/>
              </a:rPr>
              <a:t>有了具体的想法，再进行更系统、更有方向的检索</a:t>
            </a:r>
            <a:r>
              <a:rPr sz="1360" b="0" i="0" dirty="0">
                <a:solidFill>
                  <a:srgbClr val="60748B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9924" y="5303521"/>
            <a:ext cx="10716768" cy="512064"/>
          </a:xfrm>
          <a:prstGeom prst="roundRect">
            <a:avLst>
              <a:gd name="adj" fmla="val 9000"/>
            </a:avLst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7668" y="5358385"/>
            <a:ext cx="10259568" cy="38404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dirty="0" err="1">
                <a:solidFill>
                  <a:srgbClr val="366DF4"/>
                </a:solidFill>
                <a:latin typeface="宋体" panose="02010600030101010101" pitchFamily="2" charset="-122"/>
              </a:rPr>
              <a:t>广泛接触积累可能性；当问题逐渐清晰，再围绕问题深入阅读</a:t>
            </a:r>
            <a:r>
              <a:rPr sz="1500" b="1" i="0" dirty="0">
                <a:solidFill>
                  <a:srgbClr val="366DF4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0B6FE2B3-A0E1-4A16-3772-418AF3C642BB}"/>
              </a:ext>
            </a:extLst>
          </p:cNvPr>
          <p:cNvSpPr txBox="1"/>
          <p:nvPr/>
        </p:nvSpPr>
        <p:spPr>
          <a:xfrm>
            <a:off x="925372" y="3879762"/>
            <a:ext cx="4480560" cy="429768"/>
          </a:xfrm>
          <a:prstGeom prst="rect">
            <a:avLst/>
          </a:prstGeom>
          <a:noFill/>
        </p:spPr>
        <p:txBody>
          <a:bodyPr wrap="square" lIns="0" tIns="5486" rIns="0" bIns="548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i="0" dirty="0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 top conferences (</a:t>
            </a:r>
            <a:r>
              <a:rPr lang="en-US" altLang="zh-CN" sz="1200" b="1" i="0" dirty="0" err="1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icml</a:t>
            </a:r>
            <a:r>
              <a:rPr lang="en-US" altLang="zh-CN" sz="1200" b="1" i="0" dirty="0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altLang="zh-CN" sz="1200" b="1" i="0" dirty="0" err="1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neurips</a:t>
            </a:r>
            <a:r>
              <a:rPr lang="en-US" altLang="zh-CN" sz="1200" b="1" i="0" dirty="0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US" altLang="zh-CN" sz="1200" b="1" i="0" dirty="0" err="1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iclr</a:t>
            </a:r>
            <a:r>
              <a:rPr lang="en-US" altLang="zh-CN" sz="1200" b="1" i="0" dirty="0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366DF4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Latest work of famous researchers/related researchers / famous orgs</a:t>
            </a:r>
            <a:endParaRPr sz="1200" b="1" i="0" dirty="0">
              <a:solidFill>
                <a:srgbClr val="366DF4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17845"/>
            <a:ext cx="10058400" cy="17812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学生问题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 · </a:t>
            </a: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F6BFF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科学问题从哪里来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2F6BFF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2648" y="621540"/>
            <a:ext cx="10972800" cy="439416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900" b="1" i="0" u="none" strike="noStrike" kern="1200" cap="none" spc="0" normalizeH="0" baseline="0" noProof="0" dirty="0">
                <a:ln>
                  <a:noFill/>
                </a:ln>
                <a:solidFill>
                  <a:srgbClr val="102A43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科学问题从哪里来？</a:t>
            </a:r>
            <a:endParaRPr kumimoji="0" sz="2900" b="1" i="0" u="none" strike="noStrike" kern="1200" cap="none" spc="0" normalizeH="0" baseline="0" noProof="0" dirty="0">
              <a:ln>
                <a:noFill/>
              </a:ln>
              <a:solidFill>
                <a:srgbClr val="102A43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0936" y="1124712"/>
            <a:ext cx="813816" cy="39319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1210616"/>
            <a:ext cx="10972800" cy="463075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研究可以有不同的起点；关键不是“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先读多少篇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”，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而是能否形成有价值、可验证的问题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67085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Fangsong" panose="02010609060101010101" pitchFamily="49" charset="-122"/>
                <a:ea typeface="Fangsong" panose="02010609060101010101" pitchFamily="49" charset="-122"/>
                <a:cs typeface="+mn-cs"/>
              </a:rPr>
              <a:t>大量阅读的目的更多的在于长期的积累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667085"/>
              </a:solidFill>
              <a:effectLst/>
              <a:uLnTx/>
              <a:uFillTx/>
              <a:latin typeface="Fangsong" panose="02010609060101010101" pitchFamily="49" charset="-122"/>
              <a:ea typeface="Fangsong" panose="02010609060101010101" pitchFamily="49" charset="-122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0936" y="6482658"/>
            <a:ext cx="7315200" cy="156325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如何读</a:t>
            </a:r>
            <a:r>
              <a: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 </a:t>
            </a:r>
            <a:r>
              <a:rPr kumimoji="0" sz="950" b="0" i="0" u="none" strike="noStrike" kern="1200" cap="none" spc="0" normalizeH="0" baseline="0" noProof="0" dirty="0" err="1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Paper｜科学问题与选题</a:t>
            </a:r>
            <a:endParaRPr kumimoji="0" sz="950" b="0" i="0" u="none" strike="noStrike" kern="1200" cap="none" spc="0" normalizeH="0" baseline="0" noProof="0" dirty="0">
              <a:ln>
                <a:noFill/>
              </a:ln>
              <a:solidFill>
                <a:srgbClr val="667085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210544" y="6487229"/>
            <a:ext cx="256032" cy="156325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 dirty="0">
                <a:ln>
                  <a:noFill/>
                </a:ln>
                <a:solidFill>
                  <a:srgbClr val="667085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25</a:t>
            </a:r>
          </a:p>
        </p:txBody>
      </p:sp>
      <p:sp>
        <p:nvSpPr>
          <p:cNvPr id="43" name="four-gates-heading">
            <a:extLst>
              <a:ext uri="{FF2B5EF4-FFF2-40B4-BE49-F238E27FC236}">
                <a16:creationId xmlns:a16="http://schemas.microsoft.com/office/drawing/2014/main" id="{BA56B8C5-BA15-6664-9CD5-DE6D878DEE75}"/>
              </a:ext>
            </a:extLst>
          </p:cNvPr>
          <p:cNvSpPr>
            <a:spLocks noGrp="1"/>
          </p:cNvSpPr>
          <p:nvPr/>
        </p:nvSpPr>
        <p:spPr>
          <a:xfrm>
            <a:off x="666750" y="199959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75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一个值得做的问题，至少要过四关</a:t>
            </a:r>
            <a:endParaRPr kumimoji="0" sz="1575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44" name="formula-rule">
            <a:extLst>
              <a:ext uri="{FF2B5EF4-FFF2-40B4-BE49-F238E27FC236}">
                <a16:creationId xmlns:a16="http://schemas.microsoft.com/office/drawing/2014/main" id="{699B3DDE-0C65-87B1-D810-C4F4B9660ECF}"/>
              </a:ext>
            </a:extLst>
          </p:cNvPr>
          <p:cNvSpPr>
            <a:spLocks noGrp="1"/>
          </p:cNvSpPr>
          <p:nvPr/>
        </p:nvSpPr>
        <p:spPr>
          <a:xfrm>
            <a:off x="666750" y="2371070"/>
            <a:ext cx="10972800" cy="9525"/>
          </a:xfrm>
          <a:prstGeom prst="rect">
            <a:avLst/>
          </a:prstGeom>
          <a:solidFill>
            <a:srgbClr val="D8DEE7"/>
          </a:solidFill>
          <a:ln w="0">
            <a:noFill/>
            <a:prstDash val="solid"/>
          </a:ln>
        </p:spPr>
      </p:sp>
      <p:sp>
        <p:nvSpPr>
          <p:cNvPr id="45" name="gate-mark-0">
            <a:extLst>
              <a:ext uri="{FF2B5EF4-FFF2-40B4-BE49-F238E27FC236}">
                <a16:creationId xmlns:a16="http://schemas.microsoft.com/office/drawing/2014/main" id="{9BF3A047-E0A6-5D80-8EFE-1B345CC6AC2B}"/>
              </a:ext>
            </a:extLst>
          </p:cNvPr>
          <p:cNvSpPr>
            <a:spLocks noGrp="1"/>
          </p:cNvSpPr>
          <p:nvPr/>
        </p:nvSpPr>
        <p:spPr>
          <a:xfrm>
            <a:off x="666750" y="2552045"/>
            <a:ext cx="323850" cy="76200"/>
          </a:xfrm>
          <a:prstGeom prst="roundRect">
            <a:avLst>
              <a:gd name="adj" fmla="val 50000"/>
            </a:avLst>
          </a:prstGeom>
          <a:solidFill>
            <a:srgbClr val="2A6FBB"/>
          </a:solidFill>
          <a:ln w="0">
            <a:noFill/>
            <a:prstDash val="solid"/>
          </a:ln>
        </p:spPr>
      </p:sp>
      <p:sp>
        <p:nvSpPr>
          <p:cNvPr id="46" name="gate-num-0">
            <a:extLst>
              <a:ext uri="{FF2B5EF4-FFF2-40B4-BE49-F238E27FC236}">
                <a16:creationId xmlns:a16="http://schemas.microsoft.com/office/drawing/2014/main" id="{659A2588-9055-A345-E7B6-0FEC1A93429C}"/>
              </a:ext>
            </a:extLst>
          </p:cNvPr>
          <p:cNvSpPr>
            <a:spLocks noGrp="1"/>
          </p:cNvSpPr>
          <p:nvPr/>
        </p:nvSpPr>
        <p:spPr>
          <a:xfrm>
            <a:off x="1123950" y="249489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01</a:t>
            </a:r>
          </a:p>
        </p:txBody>
      </p:sp>
      <p:sp>
        <p:nvSpPr>
          <p:cNvPr id="47" name="gate-title-0">
            <a:extLst>
              <a:ext uri="{FF2B5EF4-FFF2-40B4-BE49-F238E27FC236}">
                <a16:creationId xmlns:a16="http://schemas.microsoft.com/office/drawing/2014/main" id="{6ADD54DA-29C6-5089-1044-803905881EB5}"/>
              </a:ext>
            </a:extLst>
          </p:cNvPr>
          <p:cNvSpPr>
            <a:spLocks noGrp="1"/>
          </p:cNvSpPr>
          <p:nvPr/>
        </p:nvSpPr>
        <p:spPr>
          <a:xfrm>
            <a:off x="1123950" y="268539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00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重要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48" name="gate-en-0">
            <a:extLst>
              <a:ext uri="{FF2B5EF4-FFF2-40B4-BE49-F238E27FC236}">
                <a16:creationId xmlns:a16="http://schemas.microsoft.com/office/drawing/2014/main" id="{78E703B6-6F86-1B09-2AFF-C20B1F7CF48E}"/>
              </a:ext>
            </a:extLst>
          </p:cNvPr>
          <p:cNvSpPr>
            <a:spLocks noGrp="1"/>
          </p:cNvSpPr>
          <p:nvPr/>
        </p:nvSpPr>
        <p:spPr>
          <a:xfrm>
            <a:off x="1123950" y="2971145"/>
            <a:ext cx="2000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8A95A3"/>
                </a:solidFill>
                <a:effectLst/>
                <a:uLnTx/>
                <a:uFillTx/>
                <a:latin typeface="宋体" panose="02010600030101010101" pitchFamily="2" charset="-122"/>
              </a:rPr>
              <a:t>IMPORTANCE</a:t>
            </a:r>
          </a:p>
        </p:txBody>
      </p:sp>
      <p:sp>
        <p:nvSpPr>
          <p:cNvPr id="49" name="gate-question-0">
            <a:extLst>
              <a:ext uri="{FF2B5EF4-FFF2-40B4-BE49-F238E27FC236}">
                <a16:creationId xmlns:a16="http://schemas.microsoft.com/office/drawing/2014/main" id="{EC3B4C86-9B18-30F0-8779-513B2DD07ECF}"/>
              </a:ext>
            </a:extLst>
          </p:cNvPr>
          <p:cNvSpPr>
            <a:spLocks noGrp="1"/>
          </p:cNvSpPr>
          <p:nvPr/>
        </p:nvSpPr>
        <p:spPr>
          <a:xfrm>
            <a:off x="666750" y="3180695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1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是否回应真实的科学或应用需求</a:t>
            </a:r>
            <a:r>
              <a:rPr kumimoji="0" sz="101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50" name="gate-divider-1">
            <a:extLst>
              <a:ext uri="{FF2B5EF4-FFF2-40B4-BE49-F238E27FC236}">
                <a16:creationId xmlns:a16="http://schemas.microsoft.com/office/drawing/2014/main" id="{DD6F63F0-7575-226B-9592-9B3A87A19063}"/>
              </a:ext>
            </a:extLst>
          </p:cNvPr>
          <p:cNvSpPr>
            <a:spLocks noGrp="1"/>
          </p:cNvSpPr>
          <p:nvPr/>
        </p:nvSpPr>
        <p:spPr>
          <a:xfrm>
            <a:off x="3124200" y="2552045"/>
            <a:ext cx="9525" cy="876300"/>
          </a:xfrm>
          <a:prstGeom prst="rect">
            <a:avLst/>
          </a:prstGeom>
          <a:solidFill>
            <a:srgbClr val="D8DEE7"/>
          </a:solidFill>
          <a:ln w="0">
            <a:noFill/>
            <a:prstDash val="solid"/>
          </a:ln>
        </p:spPr>
      </p:sp>
      <p:sp>
        <p:nvSpPr>
          <p:cNvPr id="51" name="gate-mark-1">
            <a:extLst>
              <a:ext uri="{FF2B5EF4-FFF2-40B4-BE49-F238E27FC236}">
                <a16:creationId xmlns:a16="http://schemas.microsoft.com/office/drawing/2014/main" id="{DFDD0A98-C73C-DDDD-28C9-FD9C7525A8D5}"/>
              </a:ext>
            </a:extLst>
          </p:cNvPr>
          <p:cNvSpPr>
            <a:spLocks noGrp="1"/>
          </p:cNvSpPr>
          <p:nvPr/>
        </p:nvSpPr>
        <p:spPr>
          <a:xfrm>
            <a:off x="3371850" y="2552045"/>
            <a:ext cx="323850" cy="76200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52" name="gate-num-1">
            <a:extLst>
              <a:ext uri="{FF2B5EF4-FFF2-40B4-BE49-F238E27FC236}">
                <a16:creationId xmlns:a16="http://schemas.microsoft.com/office/drawing/2014/main" id="{E4F16929-7B1F-8513-7E29-DEA2890E39EB}"/>
              </a:ext>
            </a:extLst>
          </p:cNvPr>
          <p:cNvSpPr>
            <a:spLocks noGrp="1"/>
          </p:cNvSpPr>
          <p:nvPr/>
        </p:nvSpPr>
        <p:spPr>
          <a:xfrm>
            <a:off x="3829050" y="249489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宋体" panose="02010600030101010101" pitchFamily="2" charset="-122"/>
              </a:rPr>
              <a:t>02</a:t>
            </a:r>
          </a:p>
        </p:txBody>
      </p:sp>
      <p:sp>
        <p:nvSpPr>
          <p:cNvPr id="53" name="gate-title-1">
            <a:extLst>
              <a:ext uri="{FF2B5EF4-FFF2-40B4-BE49-F238E27FC236}">
                <a16:creationId xmlns:a16="http://schemas.microsoft.com/office/drawing/2014/main" id="{938ED897-9673-4635-BB51-C67E3D005A8B}"/>
              </a:ext>
            </a:extLst>
          </p:cNvPr>
          <p:cNvSpPr>
            <a:spLocks noGrp="1"/>
          </p:cNvSpPr>
          <p:nvPr/>
        </p:nvSpPr>
        <p:spPr>
          <a:xfrm>
            <a:off x="3829050" y="268539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00" b="1" i="0" u="none" strike="noStrike" kern="0" cap="none" spc="0" normalizeH="0" baseline="0" noProof="0" dirty="0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新</a:t>
            </a:r>
          </a:p>
        </p:txBody>
      </p:sp>
      <p:sp>
        <p:nvSpPr>
          <p:cNvPr id="54" name="gate-en-1">
            <a:extLst>
              <a:ext uri="{FF2B5EF4-FFF2-40B4-BE49-F238E27FC236}">
                <a16:creationId xmlns:a16="http://schemas.microsoft.com/office/drawing/2014/main" id="{62A0655E-FD67-8972-2EA4-B1C8AC5D7F38}"/>
              </a:ext>
            </a:extLst>
          </p:cNvPr>
          <p:cNvSpPr>
            <a:spLocks noGrp="1"/>
          </p:cNvSpPr>
          <p:nvPr/>
        </p:nvSpPr>
        <p:spPr>
          <a:xfrm>
            <a:off x="3829050" y="2971145"/>
            <a:ext cx="2000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8A95A3"/>
                </a:solidFill>
                <a:effectLst/>
                <a:uLnTx/>
                <a:uFillTx/>
                <a:latin typeface="宋体" panose="02010600030101010101" pitchFamily="2" charset="-122"/>
              </a:rPr>
              <a:t>NOVELTY</a:t>
            </a:r>
          </a:p>
        </p:txBody>
      </p:sp>
      <p:sp>
        <p:nvSpPr>
          <p:cNvPr id="55" name="gate-question-1">
            <a:extLst>
              <a:ext uri="{FF2B5EF4-FFF2-40B4-BE49-F238E27FC236}">
                <a16:creationId xmlns:a16="http://schemas.microsoft.com/office/drawing/2014/main" id="{BFCD5DD1-FDBC-74C8-ABD9-BE2E10F7A8BE}"/>
              </a:ext>
            </a:extLst>
          </p:cNvPr>
          <p:cNvSpPr>
            <a:spLocks noGrp="1"/>
          </p:cNvSpPr>
          <p:nvPr/>
        </p:nvSpPr>
        <p:spPr>
          <a:xfrm>
            <a:off x="3371850" y="3180695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1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相对最相关工作，实质增量是什么</a:t>
            </a:r>
            <a:r>
              <a:rPr kumimoji="0" sz="101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56" name="gate-divider-2">
            <a:extLst>
              <a:ext uri="{FF2B5EF4-FFF2-40B4-BE49-F238E27FC236}">
                <a16:creationId xmlns:a16="http://schemas.microsoft.com/office/drawing/2014/main" id="{FFA167AA-8F33-44F3-F0FD-3B8E23E44423}"/>
              </a:ext>
            </a:extLst>
          </p:cNvPr>
          <p:cNvSpPr>
            <a:spLocks noGrp="1"/>
          </p:cNvSpPr>
          <p:nvPr/>
        </p:nvSpPr>
        <p:spPr>
          <a:xfrm>
            <a:off x="5829300" y="2552045"/>
            <a:ext cx="9525" cy="876300"/>
          </a:xfrm>
          <a:prstGeom prst="rect">
            <a:avLst/>
          </a:prstGeom>
          <a:solidFill>
            <a:srgbClr val="D8DEE7"/>
          </a:solidFill>
          <a:ln w="0">
            <a:noFill/>
            <a:prstDash val="solid"/>
          </a:ln>
        </p:spPr>
      </p:sp>
      <p:sp>
        <p:nvSpPr>
          <p:cNvPr id="57" name="gate-mark-2">
            <a:extLst>
              <a:ext uri="{FF2B5EF4-FFF2-40B4-BE49-F238E27FC236}">
                <a16:creationId xmlns:a16="http://schemas.microsoft.com/office/drawing/2014/main" id="{284AFF83-2341-A6F0-FE0B-BAD220AB47E7}"/>
              </a:ext>
            </a:extLst>
          </p:cNvPr>
          <p:cNvSpPr>
            <a:spLocks noGrp="1"/>
          </p:cNvSpPr>
          <p:nvPr/>
        </p:nvSpPr>
        <p:spPr>
          <a:xfrm>
            <a:off x="6076950" y="2552045"/>
            <a:ext cx="323850" cy="76200"/>
          </a:xfrm>
          <a:prstGeom prst="roundRect">
            <a:avLst>
              <a:gd name="adj" fmla="val 50000"/>
            </a:avLst>
          </a:prstGeom>
          <a:solidFill>
            <a:srgbClr val="E58F4E"/>
          </a:solidFill>
          <a:ln w="0">
            <a:noFill/>
            <a:prstDash val="solid"/>
          </a:ln>
        </p:spPr>
      </p:sp>
      <p:sp>
        <p:nvSpPr>
          <p:cNvPr id="58" name="gate-num-2">
            <a:extLst>
              <a:ext uri="{FF2B5EF4-FFF2-40B4-BE49-F238E27FC236}">
                <a16:creationId xmlns:a16="http://schemas.microsoft.com/office/drawing/2014/main" id="{827E77EC-00CC-3576-8860-6472E3E4BB43}"/>
              </a:ext>
            </a:extLst>
          </p:cNvPr>
          <p:cNvSpPr>
            <a:spLocks noGrp="1"/>
          </p:cNvSpPr>
          <p:nvPr/>
        </p:nvSpPr>
        <p:spPr>
          <a:xfrm>
            <a:off x="6534150" y="249489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E58F4E"/>
                </a:solidFill>
                <a:effectLst/>
                <a:uLnTx/>
                <a:uFillTx/>
                <a:latin typeface="宋体" panose="02010600030101010101" pitchFamily="2" charset="-122"/>
              </a:rPr>
              <a:t>03</a:t>
            </a:r>
          </a:p>
        </p:txBody>
      </p:sp>
      <p:sp>
        <p:nvSpPr>
          <p:cNvPr id="59" name="gate-title-2">
            <a:extLst>
              <a:ext uri="{FF2B5EF4-FFF2-40B4-BE49-F238E27FC236}">
                <a16:creationId xmlns:a16="http://schemas.microsoft.com/office/drawing/2014/main" id="{CB600812-3686-594D-86A0-DD137066FDCA}"/>
              </a:ext>
            </a:extLst>
          </p:cNvPr>
          <p:cNvSpPr>
            <a:spLocks noGrp="1"/>
          </p:cNvSpPr>
          <p:nvPr/>
        </p:nvSpPr>
        <p:spPr>
          <a:xfrm>
            <a:off x="6534150" y="268539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00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可验证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60" name="gate-en-2">
            <a:extLst>
              <a:ext uri="{FF2B5EF4-FFF2-40B4-BE49-F238E27FC236}">
                <a16:creationId xmlns:a16="http://schemas.microsoft.com/office/drawing/2014/main" id="{F0F3417A-5F49-A31B-C03A-6A6EE09643D2}"/>
              </a:ext>
            </a:extLst>
          </p:cNvPr>
          <p:cNvSpPr>
            <a:spLocks noGrp="1"/>
          </p:cNvSpPr>
          <p:nvPr/>
        </p:nvSpPr>
        <p:spPr>
          <a:xfrm>
            <a:off x="6534150" y="2971145"/>
            <a:ext cx="2000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8A95A3"/>
                </a:solidFill>
                <a:effectLst/>
                <a:uLnTx/>
                <a:uFillTx/>
                <a:latin typeface="宋体" panose="02010600030101010101" pitchFamily="2" charset="-122"/>
              </a:rPr>
              <a:t>TESTABLE</a:t>
            </a:r>
          </a:p>
        </p:txBody>
      </p:sp>
      <p:sp>
        <p:nvSpPr>
          <p:cNvPr id="61" name="gate-question-2">
            <a:extLst>
              <a:ext uri="{FF2B5EF4-FFF2-40B4-BE49-F238E27FC236}">
                <a16:creationId xmlns:a16="http://schemas.microsoft.com/office/drawing/2014/main" id="{C70C1C41-683B-E4DF-A174-B9F16A790EF8}"/>
              </a:ext>
            </a:extLst>
          </p:cNvPr>
          <p:cNvSpPr>
            <a:spLocks noGrp="1"/>
          </p:cNvSpPr>
          <p:nvPr/>
        </p:nvSpPr>
        <p:spPr>
          <a:xfrm>
            <a:off x="6076950" y="3180695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1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能否提出明确假设，并设计</a:t>
            </a:r>
            <a:endParaRPr kumimoji="0" sz="101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1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可能推翻它的实验</a:t>
            </a:r>
            <a:r>
              <a:rPr kumimoji="0" sz="101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62" name="gate-divider-3">
            <a:extLst>
              <a:ext uri="{FF2B5EF4-FFF2-40B4-BE49-F238E27FC236}">
                <a16:creationId xmlns:a16="http://schemas.microsoft.com/office/drawing/2014/main" id="{8D5711C5-89D2-7CCA-FA38-F61778A67332}"/>
              </a:ext>
            </a:extLst>
          </p:cNvPr>
          <p:cNvSpPr>
            <a:spLocks noGrp="1"/>
          </p:cNvSpPr>
          <p:nvPr/>
        </p:nvSpPr>
        <p:spPr>
          <a:xfrm>
            <a:off x="8534400" y="2552045"/>
            <a:ext cx="9525" cy="876300"/>
          </a:xfrm>
          <a:prstGeom prst="rect">
            <a:avLst/>
          </a:prstGeom>
          <a:solidFill>
            <a:srgbClr val="D8DEE7"/>
          </a:solidFill>
          <a:ln w="0">
            <a:noFill/>
            <a:prstDash val="solid"/>
          </a:ln>
        </p:spPr>
      </p:sp>
      <p:sp>
        <p:nvSpPr>
          <p:cNvPr id="63" name="gate-mark-3">
            <a:extLst>
              <a:ext uri="{FF2B5EF4-FFF2-40B4-BE49-F238E27FC236}">
                <a16:creationId xmlns:a16="http://schemas.microsoft.com/office/drawing/2014/main" id="{0E0353CE-C070-7744-B1A9-FDC18ABE3C75}"/>
              </a:ext>
            </a:extLst>
          </p:cNvPr>
          <p:cNvSpPr>
            <a:spLocks noGrp="1"/>
          </p:cNvSpPr>
          <p:nvPr/>
        </p:nvSpPr>
        <p:spPr>
          <a:xfrm>
            <a:off x="8782050" y="2552045"/>
            <a:ext cx="323850" cy="76200"/>
          </a:xfrm>
          <a:prstGeom prst="roundRect">
            <a:avLst>
              <a:gd name="adj" fmla="val 50000"/>
            </a:avLst>
          </a:prstGeom>
          <a:solidFill>
            <a:srgbClr val="7B6AAE"/>
          </a:solidFill>
          <a:ln w="0">
            <a:noFill/>
            <a:prstDash val="solid"/>
          </a:ln>
        </p:spPr>
      </p:sp>
      <p:sp>
        <p:nvSpPr>
          <p:cNvPr id="64" name="gate-num-3">
            <a:extLst>
              <a:ext uri="{FF2B5EF4-FFF2-40B4-BE49-F238E27FC236}">
                <a16:creationId xmlns:a16="http://schemas.microsoft.com/office/drawing/2014/main" id="{7A43CFA6-9A5D-00CF-7A2C-17B126A71A55}"/>
              </a:ext>
            </a:extLst>
          </p:cNvPr>
          <p:cNvSpPr>
            <a:spLocks noGrp="1"/>
          </p:cNvSpPr>
          <p:nvPr/>
        </p:nvSpPr>
        <p:spPr>
          <a:xfrm>
            <a:off x="9239250" y="2494895"/>
            <a:ext cx="361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00" b="1" i="0" u="none" strike="noStrike" kern="0" cap="none" spc="0" normalizeH="0" baseline="0" noProof="0" dirty="0">
                <a:ln>
                  <a:noFill/>
                </a:ln>
                <a:solidFill>
                  <a:srgbClr val="7B6AAE"/>
                </a:solidFill>
                <a:effectLst/>
                <a:uLnTx/>
                <a:uFillTx/>
                <a:latin typeface="宋体" panose="02010600030101010101" pitchFamily="2" charset="-122"/>
              </a:rPr>
              <a:t>04</a:t>
            </a:r>
          </a:p>
        </p:txBody>
      </p:sp>
      <p:sp>
        <p:nvSpPr>
          <p:cNvPr id="65" name="gate-title-3">
            <a:extLst>
              <a:ext uri="{FF2B5EF4-FFF2-40B4-BE49-F238E27FC236}">
                <a16:creationId xmlns:a16="http://schemas.microsoft.com/office/drawing/2014/main" id="{0C5DE4BA-F480-4F54-6052-8B3E9030280F}"/>
              </a:ext>
            </a:extLst>
          </p:cNvPr>
          <p:cNvSpPr>
            <a:spLocks noGrp="1"/>
          </p:cNvSpPr>
          <p:nvPr/>
        </p:nvSpPr>
        <p:spPr>
          <a:xfrm>
            <a:off x="9239250" y="268539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00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可做</a:t>
            </a: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66" name="gate-en-3">
            <a:extLst>
              <a:ext uri="{FF2B5EF4-FFF2-40B4-BE49-F238E27FC236}">
                <a16:creationId xmlns:a16="http://schemas.microsoft.com/office/drawing/2014/main" id="{FC15FD0E-9C45-CE94-9A61-D842E89595C0}"/>
              </a:ext>
            </a:extLst>
          </p:cNvPr>
          <p:cNvSpPr>
            <a:spLocks noGrp="1"/>
          </p:cNvSpPr>
          <p:nvPr/>
        </p:nvSpPr>
        <p:spPr>
          <a:xfrm>
            <a:off x="9239250" y="2971145"/>
            <a:ext cx="2000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8A95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8A95A3"/>
                </a:solidFill>
                <a:effectLst/>
                <a:uLnTx/>
                <a:uFillTx/>
                <a:latin typeface="宋体" panose="02010600030101010101" pitchFamily="2" charset="-122"/>
              </a:rPr>
              <a:t>FEASIBLE</a:t>
            </a:r>
          </a:p>
        </p:txBody>
      </p:sp>
      <p:sp>
        <p:nvSpPr>
          <p:cNvPr id="67" name="gate-question-3">
            <a:extLst>
              <a:ext uri="{FF2B5EF4-FFF2-40B4-BE49-F238E27FC236}">
                <a16:creationId xmlns:a16="http://schemas.microsoft.com/office/drawing/2014/main" id="{99EDA31B-560C-5C68-7503-DF204ED49ED0}"/>
              </a:ext>
            </a:extLst>
          </p:cNvPr>
          <p:cNvSpPr>
            <a:spLocks noGrp="1"/>
          </p:cNvSpPr>
          <p:nvPr/>
        </p:nvSpPr>
        <p:spPr>
          <a:xfrm>
            <a:off x="8782050" y="3180695"/>
            <a:ext cx="2333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1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数据、算力、工具、时间与</a:t>
            </a:r>
            <a:endParaRPr kumimoji="0" sz="101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1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01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实验条件是否支持</a:t>
            </a:r>
            <a:r>
              <a:rPr kumimoji="0" sz="101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？</a:t>
            </a:r>
          </a:p>
        </p:txBody>
      </p:sp>
      <p:sp>
        <p:nvSpPr>
          <p:cNvPr id="68" name="formula">
            <a:extLst>
              <a:ext uri="{FF2B5EF4-FFF2-40B4-BE49-F238E27FC236}">
                <a16:creationId xmlns:a16="http://schemas.microsoft.com/office/drawing/2014/main" id="{DFD83ACF-8527-6276-7F65-441C1D7B77CF}"/>
              </a:ext>
            </a:extLst>
          </p:cNvPr>
          <p:cNvSpPr>
            <a:spLocks noGrp="1"/>
          </p:cNvSpPr>
          <p:nvPr/>
        </p:nvSpPr>
        <p:spPr>
          <a:xfrm>
            <a:off x="666750" y="3618845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2A6FB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425" b="1" i="0" u="none" strike="noStrike" kern="0" cap="none" spc="0" normalizeH="0" baseline="0" noProof="0" dirty="0" err="1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重要性</a:t>
            </a:r>
            <a:r>
              <a:rPr kumimoji="0" sz="1425" b="1" i="0" u="none" strike="noStrike" kern="0" cap="none" spc="0" normalizeH="0" baseline="0" noProof="0" dirty="0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  ×  </a:t>
            </a:r>
            <a:r>
              <a:rPr kumimoji="0" sz="1425" b="1" i="0" u="none" strike="noStrike" kern="0" cap="none" spc="0" normalizeH="0" baseline="0" noProof="0" dirty="0" err="1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实质新意</a:t>
            </a:r>
            <a:r>
              <a:rPr kumimoji="0" sz="1425" b="1" i="0" u="none" strike="noStrike" kern="0" cap="none" spc="0" normalizeH="0" baseline="0" noProof="0" dirty="0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  ×  </a:t>
            </a:r>
            <a:r>
              <a:rPr kumimoji="0" sz="1425" b="1" i="0" u="none" strike="noStrike" kern="0" cap="none" spc="0" normalizeH="0" baseline="0" noProof="0" dirty="0" err="1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可验证性</a:t>
            </a:r>
            <a:r>
              <a:rPr kumimoji="0" sz="1425" b="1" i="0" u="none" strike="noStrike" kern="0" cap="none" spc="0" normalizeH="0" baseline="0" noProof="0" dirty="0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  ×  </a:t>
            </a:r>
            <a:r>
              <a:rPr kumimoji="0" sz="1425" b="1" i="0" u="none" strike="noStrike" kern="0" cap="none" spc="0" normalizeH="0" baseline="0" noProof="0" dirty="0" err="1">
                <a:ln>
                  <a:noFill/>
                </a:ln>
                <a:solidFill>
                  <a:srgbClr val="2A6FBB"/>
                </a:solidFill>
                <a:effectLst/>
                <a:uLnTx/>
                <a:uFillTx/>
                <a:latin typeface="宋体" panose="02010600030101010101" pitchFamily="2" charset="-122"/>
              </a:rPr>
              <a:t>可做性</a:t>
            </a:r>
            <a:endParaRPr kumimoji="0" sz="1425" b="1" i="0" u="none" strike="noStrike" kern="0" cap="none" spc="0" normalizeH="0" baseline="0" noProof="0" dirty="0">
              <a:ln>
                <a:noFill/>
              </a:ln>
              <a:solidFill>
                <a:srgbClr val="2A6FBB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69" name="formula-note">
            <a:extLst>
              <a:ext uri="{FF2B5EF4-FFF2-40B4-BE49-F238E27FC236}">
                <a16:creationId xmlns:a16="http://schemas.microsoft.com/office/drawing/2014/main" id="{BFA28C96-87B0-EAA2-3A41-BFC4F0C69E72}"/>
              </a:ext>
            </a:extLst>
          </p:cNvPr>
          <p:cNvSpPr>
            <a:spLocks noGrp="1"/>
          </p:cNvSpPr>
          <p:nvPr/>
        </p:nvSpPr>
        <p:spPr>
          <a:xfrm>
            <a:off x="8324850" y="3647420"/>
            <a:ext cx="3314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00" b="0" i="0" u="none" strike="noStrike" kern="0" cap="none" spc="0" normalizeH="0" baseline="0" noProof="0" dirty="0" err="1">
                <a:ln>
                  <a:noFill/>
                </a:ln>
                <a:solidFill>
                  <a:srgbClr val="7A8592"/>
                </a:solidFill>
                <a:effectLst/>
                <a:uLnTx/>
                <a:uFillTx/>
                <a:latin typeface="宋体" panose="02010600030101010101" pitchFamily="2" charset="-122"/>
              </a:rPr>
              <a:t>四道关是判断标准，不是机械打分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solidFill>
                <a:srgbClr val="7A8592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0" name="section-rule">
            <a:extLst>
              <a:ext uri="{FF2B5EF4-FFF2-40B4-BE49-F238E27FC236}">
                <a16:creationId xmlns:a16="http://schemas.microsoft.com/office/drawing/2014/main" id="{62869A51-4C7E-732A-C7A6-56396C0722B3}"/>
              </a:ext>
            </a:extLst>
          </p:cNvPr>
          <p:cNvSpPr>
            <a:spLocks noGrp="1"/>
          </p:cNvSpPr>
          <p:nvPr/>
        </p:nvSpPr>
        <p:spPr>
          <a:xfrm>
            <a:off x="666750" y="3990320"/>
            <a:ext cx="10972800" cy="9525"/>
          </a:xfrm>
          <a:prstGeom prst="rect">
            <a:avLst/>
          </a:prstGeom>
          <a:solidFill>
            <a:srgbClr val="D8DEE7"/>
          </a:solidFill>
          <a:ln w="0">
            <a:noFill/>
            <a:prstDash val="solid"/>
          </a:ln>
        </p:spPr>
      </p:sp>
      <p:sp>
        <p:nvSpPr>
          <p:cNvPr id="71" name="sources-heading">
            <a:extLst>
              <a:ext uri="{FF2B5EF4-FFF2-40B4-BE49-F238E27FC236}">
                <a16:creationId xmlns:a16="http://schemas.microsoft.com/office/drawing/2014/main" id="{70201ED0-2C87-3322-700E-3D58D2674B67}"/>
              </a:ext>
            </a:extLst>
          </p:cNvPr>
          <p:cNvSpPr>
            <a:spLocks noGrp="1"/>
          </p:cNvSpPr>
          <p:nvPr/>
        </p:nvSpPr>
        <p:spPr>
          <a:xfrm>
            <a:off x="666750" y="415224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575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科学问题可以从很多地方产生</a:t>
            </a:r>
            <a:endParaRPr kumimoji="0" sz="1575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2" name="sources-subtitle">
            <a:extLst>
              <a:ext uri="{FF2B5EF4-FFF2-40B4-BE49-F238E27FC236}">
                <a16:creationId xmlns:a16="http://schemas.microsoft.com/office/drawing/2014/main" id="{DFA38623-D6B0-E1E0-9A02-2E3466039965}"/>
              </a:ext>
            </a:extLst>
          </p:cNvPr>
          <p:cNvSpPr>
            <a:spLocks noGrp="1"/>
          </p:cNvSpPr>
          <p:nvPr/>
        </p:nvSpPr>
        <p:spPr>
          <a:xfrm>
            <a:off x="8439150" y="4209395"/>
            <a:ext cx="320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40">
                <a:solidFill>
                  <a:srgbClr val="7A859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40" b="0" i="0" u="none" strike="noStrike" kern="0" cap="none" spc="0" normalizeH="0" baseline="0" noProof="0" dirty="0" err="1">
                <a:ln>
                  <a:noFill/>
                </a:ln>
                <a:solidFill>
                  <a:srgbClr val="7A8592"/>
                </a:solidFill>
                <a:effectLst/>
                <a:uLnTx/>
                <a:uFillTx/>
                <a:latin typeface="宋体" panose="02010600030101010101" pitchFamily="2" charset="-122"/>
              </a:rPr>
              <a:t>四道关判断“值不值得做</a:t>
            </a:r>
            <a:r>
              <a:rPr kumimoji="0" sz="940" b="0" i="0" u="none" strike="noStrike" kern="0" cap="none" spc="0" normalizeH="0" baseline="0" noProof="0" dirty="0">
                <a:ln>
                  <a:noFill/>
                </a:ln>
                <a:solidFill>
                  <a:srgbClr val="7A8592"/>
                </a:solidFill>
                <a:effectLst/>
                <a:uLnTx/>
                <a:uFillTx/>
                <a:latin typeface="宋体" panose="02010600030101010101" pitchFamily="2" charset="-122"/>
              </a:rPr>
              <a:t>” · </a:t>
            </a:r>
            <a:r>
              <a:rPr kumimoji="0" sz="940" b="0" i="0" u="none" strike="noStrike" kern="0" cap="none" spc="0" normalizeH="0" baseline="0" noProof="0" dirty="0" err="1">
                <a:ln>
                  <a:noFill/>
                </a:ln>
                <a:solidFill>
                  <a:srgbClr val="7A8592"/>
                </a:solidFill>
                <a:effectLst/>
                <a:uLnTx/>
                <a:uFillTx/>
                <a:latin typeface="宋体" panose="02010600030101010101" pitchFamily="2" charset="-122"/>
              </a:rPr>
              <a:t>来源解释“想法从哪里来</a:t>
            </a:r>
            <a:r>
              <a:rPr kumimoji="0" sz="940" b="0" i="0" u="none" strike="noStrike" kern="0" cap="none" spc="0" normalizeH="0" baseline="0" noProof="0" dirty="0">
                <a:ln>
                  <a:noFill/>
                </a:ln>
                <a:solidFill>
                  <a:srgbClr val="7A8592"/>
                </a:solidFill>
                <a:effectLst/>
                <a:uLnTx/>
                <a:uFillTx/>
                <a:latin typeface="宋体" panose="02010600030101010101" pitchFamily="2" charset="-122"/>
              </a:rPr>
              <a:t>”</a:t>
            </a:r>
          </a:p>
        </p:txBody>
      </p:sp>
      <p:sp>
        <p:nvSpPr>
          <p:cNvPr id="73" name="group-accent-0">
            <a:extLst>
              <a:ext uri="{FF2B5EF4-FFF2-40B4-BE49-F238E27FC236}">
                <a16:creationId xmlns:a16="http://schemas.microsoft.com/office/drawing/2014/main" id="{F83DAD9E-2DB1-A4DB-A426-74025ACAD3DB}"/>
              </a:ext>
            </a:extLst>
          </p:cNvPr>
          <p:cNvSpPr>
            <a:spLocks noGrp="1"/>
          </p:cNvSpPr>
          <p:nvPr/>
        </p:nvSpPr>
        <p:spPr>
          <a:xfrm>
            <a:off x="666750" y="4638020"/>
            <a:ext cx="57150" cy="742950"/>
          </a:xfrm>
          <a:prstGeom prst="rect">
            <a:avLst/>
          </a:prstGeom>
          <a:solidFill>
            <a:srgbClr val="2A9D8F"/>
          </a:solidFill>
          <a:ln w="0">
            <a:noFill/>
            <a:prstDash val="solid"/>
          </a:ln>
        </p:spPr>
      </p:sp>
      <p:sp>
        <p:nvSpPr>
          <p:cNvPr id="74" name="group-title-0">
            <a:extLst>
              <a:ext uri="{FF2B5EF4-FFF2-40B4-BE49-F238E27FC236}">
                <a16:creationId xmlns:a16="http://schemas.microsoft.com/office/drawing/2014/main" id="{7AAD2487-8C99-137A-1971-AFCF83964B3C}"/>
              </a:ext>
            </a:extLst>
          </p:cNvPr>
          <p:cNvSpPr>
            <a:spLocks noGrp="1"/>
          </p:cNvSpPr>
          <p:nvPr/>
        </p:nvSpPr>
        <p:spPr>
          <a:xfrm>
            <a:off x="838200" y="459992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场景与研究积累</a:t>
            </a:r>
            <a:endParaRPr kumimoji="0" sz="1275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5" name="group-en-0">
            <a:extLst>
              <a:ext uri="{FF2B5EF4-FFF2-40B4-BE49-F238E27FC236}">
                <a16:creationId xmlns:a16="http://schemas.microsoft.com/office/drawing/2014/main" id="{3AF717DD-8326-3CBB-A673-CBC7B3AE8CED}"/>
              </a:ext>
            </a:extLst>
          </p:cNvPr>
          <p:cNvSpPr>
            <a:spLocks noGrp="1"/>
          </p:cNvSpPr>
          <p:nvPr/>
        </p:nvSpPr>
        <p:spPr>
          <a:xfrm>
            <a:off x="838200" y="484757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2A9D8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2A9D8F"/>
                </a:solidFill>
                <a:effectLst/>
                <a:uLnTx/>
                <a:uFillTx/>
                <a:latin typeface="宋体" panose="02010600030101010101" pitchFamily="2" charset="-122"/>
              </a:rPr>
              <a:t>SCENARIO  ·  ACCUMULATION</a:t>
            </a:r>
          </a:p>
        </p:txBody>
      </p:sp>
      <p:sp>
        <p:nvSpPr>
          <p:cNvPr id="76" name="group-body-0">
            <a:extLst>
              <a:ext uri="{FF2B5EF4-FFF2-40B4-BE49-F238E27FC236}">
                <a16:creationId xmlns:a16="http://schemas.microsoft.com/office/drawing/2014/main" id="{95AE1EC8-364D-5541-894A-9DE14689711D}"/>
              </a:ext>
            </a:extLst>
          </p:cNvPr>
          <p:cNvSpPr>
            <a:spLocks noGrp="1"/>
          </p:cNvSpPr>
          <p:nvPr/>
        </p:nvSpPr>
        <p:spPr>
          <a:xfrm>
            <a:off x="838200" y="510474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现实场景牵引：从真实需求与反复出现的瓶颈出发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想法牵引：先有</a:t>
            </a: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Idea，再查先例与反例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长期积累与共性观察：追踪重复出现的现象、需求与规律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7" name="group-accent-1">
            <a:extLst>
              <a:ext uri="{FF2B5EF4-FFF2-40B4-BE49-F238E27FC236}">
                <a16:creationId xmlns:a16="http://schemas.microsoft.com/office/drawing/2014/main" id="{ED266637-4EF6-5F54-9166-E91CF7578504}"/>
              </a:ext>
            </a:extLst>
          </p:cNvPr>
          <p:cNvSpPr>
            <a:spLocks noGrp="1"/>
          </p:cNvSpPr>
          <p:nvPr/>
        </p:nvSpPr>
        <p:spPr>
          <a:xfrm>
            <a:off x="4438650" y="4638020"/>
            <a:ext cx="57150" cy="742950"/>
          </a:xfrm>
          <a:prstGeom prst="rect">
            <a:avLst/>
          </a:prstGeom>
          <a:solidFill>
            <a:srgbClr val="E58F4E"/>
          </a:solidFill>
          <a:ln w="0">
            <a:noFill/>
            <a:prstDash val="solid"/>
          </a:ln>
        </p:spPr>
      </p:sp>
      <p:sp>
        <p:nvSpPr>
          <p:cNvPr id="78" name="group-title-1">
            <a:extLst>
              <a:ext uri="{FF2B5EF4-FFF2-40B4-BE49-F238E27FC236}">
                <a16:creationId xmlns:a16="http://schemas.microsoft.com/office/drawing/2014/main" id="{A71BDE6F-B625-0D11-6402-94430C12A3B0}"/>
              </a:ext>
            </a:extLst>
          </p:cNvPr>
          <p:cNvSpPr>
            <a:spLocks noGrp="1"/>
          </p:cNvSpPr>
          <p:nvPr/>
        </p:nvSpPr>
        <p:spPr>
          <a:xfrm>
            <a:off x="4610100" y="459992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0" cap="none" spc="0" normalizeH="0" baseline="0" noProof="0" dirty="0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Paper </a:t>
            </a:r>
            <a:r>
              <a:rPr kumimoji="0" sz="1275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与问题推进</a:t>
            </a:r>
            <a:endParaRPr kumimoji="0" sz="1275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79" name="group-en-1">
            <a:extLst>
              <a:ext uri="{FF2B5EF4-FFF2-40B4-BE49-F238E27FC236}">
                <a16:creationId xmlns:a16="http://schemas.microsoft.com/office/drawing/2014/main" id="{F22C1A66-D091-EE42-B9E0-80F362330841}"/>
              </a:ext>
            </a:extLst>
          </p:cNvPr>
          <p:cNvSpPr>
            <a:spLocks noGrp="1"/>
          </p:cNvSpPr>
          <p:nvPr/>
        </p:nvSpPr>
        <p:spPr>
          <a:xfrm>
            <a:off x="4610100" y="484757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E58F4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E58F4E"/>
                </a:solidFill>
                <a:effectLst/>
                <a:uLnTx/>
                <a:uFillTx/>
                <a:latin typeface="宋体" panose="02010600030101010101" pitchFamily="2" charset="-122"/>
              </a:rPr>
              <a:t>PAPER  ·  SYNTHESIS  ·  THEORY</a:t>
            </a:r>
          </a:p>
        </p:txBody>
      </p:sp>
      <p:sp>
        <p:nvSpPr>
          <p:cNvPr id="80" name="group-body-1">
            <a:extLst>
              <a:ext uri="{FF2B5EF4-FFF2-40B4-BE49-F238E27FC236}">
                <a16:creationId xmlns:a16="http://schemas.microsoft.com/office/drawing/2014/main" id="{48194D5C-D0FD-D7DA-7459-8A4531C274DF}"/>
              </a:ext>
            </a:extLst>
          </p:cNvPr>
          <p:cNvSpPr>
            <a:spLocks noGrp="1"/>
          </p:cNvSpPr>
          <p:nvPr/>
        </p:nvSpPr>
        <p:spPr>
          <a:xfrm>
            <a:off x="4610100" y="510474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关键工作推进：从机制、局限与未尽空间继续推进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跨工作综合：寻找共同规律、新联系或统一解释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理论深化与视角重构：用新理论、机制或数据重新理解已有问题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81" name="group-accent-2">
            <a:extLst>
              <a:ext uri="{FF2B5EF4-FFF2-40B4-BE49-F238E27FC236}">
                <a16:creationId xmlns:a16="http://schemas.microsoft.com/office/drawing/2014/main" id="{2DCC5C3C-F4BB-3AE4-5F35-B2E28F7F855F}"/>
              </a:ext>
            </a:extLst>
          </p:cNvPr>
          <p:cNvSpPr>
            <a:spLocks noGrp="1"/>
          </p:cNvSpPr>
          <p:nvPr/>
        </p:nvSpPr>
        <p:spPr>
          <a:xfrm>
            <a:off x="8210550" y="4638020"/>
            <a:ext cx="57150" cy="742950"/>
          </a:xfrm>
          <a:prstGeom prst="rect">
            <a:avLst/>
          </a:prstGeom>
          <a:solidFill>
            <a:srgbClr val="7B6AAE"/>
          </a:solidFill>
          <a:ln w="0">
            <a:noFill/>
            <a:prstDash val="solid"/>
          </a:ln>
        </p:spPr>
      </p:sp>
      <p:sp>
        <p:nvSpPr>
          <p:cNvPr id="82" name="group-title-2">
            <a:extLst>
              <a:ext uri="{FF2B5EF4-FFF2-40B4-BE49-F238E27FC236}">
                <a16:creationId xmlns:a16="http://schemas.microsoft.com/office/drawing/2014/main" id="{371CC7B9-CE2A-9B0B-5761-3E709F18CC37}"/>
              </a:ext>
            </a:extLst>
          </p:cNvPr>
          <p:cNvSpPr>
            <a:spLocks noGrp="1"/>
          </p:cNvSpPr>
          <p:nvPr/>
        </p:nvSpPr>
        <p:spPr>
          <a:xfrm>
            <a:off x="8382000" y="459992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75" b="1">
                <a:solidFill>
                  <a:srgbClr val="10233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1275" b="1" i="0" u="none" strike="noStrike" kern="0" cap="none" spc="0" normalizeH="0" baseline="0" noProof="0" dirty="0" err="1">
                <a:ln>
                  <a:noFill/>
                </a:ln>
                <a:solidFill>
                  <a:srgbClr val="10233F"/>
                </a:solidFill>
                <a:effectLst/>
                <a:uLnTx/>
                <a:uFillTx/>
                <a:latin typeface="宋体" panose="02010600030101010101" pitchFamily="2" charset="-122"/>
              </a:rPr>
              <a:t>技术启发与评测</a:t>
            </a:r>
            <a:endParaRPr kumimoji="0" sz="1275" b="1" i="0" u="none" strike="noStrike" kern="0" cap="none" spc="0" normalizeH="0" baseline="0" noProof="0" dirty="0">
              <a:ln>
                <a:noFill/>
              </a:ln>
              <a:solidFill>
                <a:srgbClr val="10233F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  <p:sp>
        <p:nvSpPr>
          <p:cNvPr id="83" name="group-en-2">
            <a:extLst>
              <a:ext uri="{FF2B5EF4-FFF2-40B4-BE49-F238E27FC236}">
                <a16:creationId xmlns:a16="http://schemas.microsoft.com/office/drawing/2014/main" id="{1B1F1817-B598-151B-D9D6-B57088A366EC}"/>
              </a:ext>
            </a:extLst>
          </p:cNvPr>
          <p:cNvSpPr>
            <a:spLocks noGrp="1"/>
          </p:cNvSpPr>
          <p:nvPr/>
        </p:nvSpPr>
        <p:spPr>
          <a:xfrm>
            <a:off x="8382000" y="4847570"/>
            <a:ext cx="285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7B6A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750" b="1" i="0" u="none" strike="noStrike" kern="0" cap="none" spc="0" normalizeH="0" baseline="0" noProof="0" dirty="0">
                <a:ln>
                  <a:noFill/>
                </a:ln>
                <a:solidFill>
                  <a:srgbClr val="7B6AAE"/>
                </a:solidFill>
                <a:effectLst/>
                <a:uLnTx/>
                <a:uFillTx/>
                <a:latin typeface="宋体" panose="02010600030101010101" pitchFamily="2" charset="-122"/>
              </a:rPr>
              <a:t>TECHNOLOGY  ·  BENCHMARK</a:t>
            </a:r>
          </a:p>
        </p:txBody>
      </p:sp>
      <p:sp>
        <p:nvSpPr>
          <p:cNvPr id="84" name="group-body-2">
            <a:extLst>
              <a:ext uri="{FF2B5EF4-FFF2-40B4-BE49-F238E27FC236}">
                <a16:creationId xmlns:a16="http://schemas.microsoft.com/office/drawing/2014/main" id="{CADA39F8-CA28-D519-911B-B85F8F068D4A}"/>
              </a:ext>
            </a:extLst>
          </p:cNvPr>
          <p:cNvSpPr>
            <a:spLocks noGrp="1"/>
          </p:cNvSpPr>
          <p:nvPr/>
        </p:nvSpPr>
        <p:spPr>
          <a:xfrm>
            <a:off x="8382000" y="510474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技术启发与研究连接：先因兴趣了解，再思考如何结合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方法组合与能力迁移：A+B</a:t>
            </a: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 ×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新场景</a:t>
            </a: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/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规模</a:t>
            </a: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 →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新能力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  <a:p>
            <a:pPr marL="0" marR="0" lvl="0" indent="0" algn="l" defTabSz="91440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>
                <a:solidFill>
                  <a:srgbClr val="4D5A6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•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评测体系建设：构建</a:t>
            </a:r>
            <a:r>
              <a:rPr kumimoji="0" sz="975" b="0" i="0" u="none" strike="noStrike" kern="0" cap="none" spc="0" normalizeH="0" baseline="0" noProof="0" dirty="0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 </a:t>
            </a:r>
            <a:r>
              <a:rPr kumimoji="0" sz="975" b="0" i="0" u="none" strike="noStrike" kern="0" cap="none" spc="0" normalizeH="0" baseline="0" noProof="0" dirty="0" err="1">
                <a:ln>
                  <a:noFill/>
                </a:ln>
                <a:solidFill>
                  <a:srgbClr val="4D5A69"/>
                </a:solidFill>
                <a:effectLst/>
                <a:uLnTx/>
                <a:uFillTx/>
                <a:latin typeface="宋体" panose="02010600030101010101" pitchFamily="2" charset="-122"/>
              </a:rPr>
              <a:t>Benchmark，把重要能力变成可测问题</a:t>
            </a:r>
            <a:endParaRPr kumimoji="0" sz="975" b="0" i="0" u="none" strike="noStrike" kern="0" cap="none" spc="0" normalizeH="0" baseline="0" noProof="0" dirty="0">
              <a:ln>
                <a:noFill/>
              </a:ln>
              <a:solidFill>
                <a:srgbClr val="4D5A69"/>
              </a:solidFill>
              <a:effectLst/>
              <a:uLnTx/>
              <a:uFillTx/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2AB7E5-5233-9B06-5746-003E15953431}"/>
              </a:ext>
            </a:extLst>
          </p:cNvPr>
          <p:cNvSpPr txBox="1"/>
          <p:nvPr/>
        </p:nvSpPr>
        <p:spPr>
          <a:xfrm>
            <a:off x="825813" y="509002"/>
            <a:ext cx="1023407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fangsong" panose="02010609060101010101" pitchFamily="49" charset="-122"/>
                <a:ea typeface="fangsong" panose="02010609060101010101" pitchFamily="49" charset="-122"/>
              </a:rPr>
              <a:t>1. 如何避免被 AI 替代，或者盲从 AI？</a:t>
            </a:r>
          </a:p>
          <a:p>
            <a:pPr lvl="0"/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 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自己动手试很重要。 只有真正跑起来，才能发现实际问题。</a:t>
            </a:r>
          </a:p>
          <a:p>
            <a:pPr lvl="0"/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 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不同 Paper 的 Goal 和实验 Setting 不同，不能机械照搬 AI 给出的方案。</a:t>
            </a:r>
          </a:p>
          <a:p>
            <a:pPr lvl="0"/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 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AI 时代，Why 和 What 更关键：为什么做、真正要解决什么，而不只是 How。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lvl="0"/>
            <a:endParaRPr lang="zh-CN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zh-CN" b="1" dirty="0">
                <a:latin typeface="fangsong" panose="02010609060101010101" pitchFamily="49" charset="-122"/>
                <a:ea typeface="fangsong" panose="02010609060101010101" pitchFamily="49" charset="-122"/>
              </a:rPr>
              <a:t>2. 担心方法重复，是不是要读完所有文献再开始？</a:t>
            </a:r>
          </a:p>
          <a:p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 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没必要。先动起来，再不断 Revisit 文献、完善 Idea。</a:t>
            </a:r>
          </a:p>
          <a:p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 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如果一个 Idea 听起来就很容易被别人想到，要尽早查新；如果核心想法可以快速验证，不妨用一周做一个 Quick Try。</a:t>
            </a:r>
          </a:p>
          <a:p>
            <a:endParaRPr lang="en-US" altLang="zh-CN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zh-CN" b="1" dirty="0">
                <a:latin typeface="fangsong" panose="02010609060101010101" pitchFamily="49" charset="-122"/>
                <a:ea typeface="fangsong" panose="02010609060101010101" pitchFamily="49" charset="-122"/>
              </a:rPr>
              <a:t>3. 每天读多少、怎么检索？</a:t>
            </a:r>
          </a:p>
          <a:p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没有固定要求，但建议每周至少留出半天系统阅读文献。</a:t>
            </a:r>
          </a:p>
          <a:p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&gt;&gt; </a:t>
            </a:r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不要只追求阅读数量，更重要的是持续积累和形成自己的判断。</a:t>
            </a:r>
          </a:p>
          <a:p>
            <a:endParaRPr lang="en-US" altLang="zh-CN" b="1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zh-CN" b="1" dirty="0">
                <a:latin typeface="fangsong" panose="02010609060101010101" pitchFamily="49" charset="-122"/>
                <a:ea typeface="fangsong" panose="02010609060101010101" pitchFamily="49" charset="-122"/>
              </a:rPr>
              <a:t>4. 如何快速收集公开数据，判断 Benchmark 是否合理？</a:t>
            </a:r>
          </a:p>
          <a:p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Previous Paper + Codex + Quick Try</a:t>
            </a:r>
          </a:p>
          <a:p>
            <a:pPr lvl="0"/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Previous Paper： 从相关论文、补充材料和代码仓库寻找数据源与评测协议。</a:t>
            </a:r>
          </a:p>
          <a:p>
            <a:pPr lvl="0"/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Codex： 快速实现数据下载、清洗、统计和 Baseline 运行。</a:t>
            </a:r>
          </a:p>
          <a:p>
            <a:pPr lvl="0"/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Quick Try： 先抽样跑通流程，再检查数据质量、划分合理性、指标有效性和对比公平性。</a:t>
            </a:r>
          </a:p>
          <a:p>
            <a:r>
              <a:rPr lang="zh-CN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能下载、能跑通，不代表 Benchmark 就合理。</a:t>
            </a:r>
            <a:endParaRPr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优先大厂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数据多</a:t>
            </a:r>
            <a:r>
              <a:rPr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/GPU</a:t>
            </a:r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多 有一定口碑</a:t>
            </a:r>
            <a:endParaRPr lang="zh-CN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9325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mbria"/>
        <a:ea typeface="宋体"/>
        <a:cs typeface=""/>
      </a:majorFont>
      <a:minorFont>
        <a:latin typeface="Cambri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2329</Words>
  <Application>Microsoft Office PowerPoint</Application>
  <PresentationFormat>宽屏</PresentationFormat>
  <Paragraphs>446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Noto Sans CJK SC</vt:lpstr>
      <vt:lpstr>fangsong</vt:lpstr>
      <vt:lpstr>fangsong</vt:lpstr>
      <vt:lpstr>Arial</vt:lpstr>
      <vt:lpstr>Calibri</vt:lpstr>
      <vt:lpstr>Cambria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如何读 Paper：从理解作者故事，到核验研究价值</dc:title>
  <dc:subject>科研论文阅读讲座｜新版统一美化模板</dc:subject>
  <dc:creator>夏应策</dc:creator>
  <cp:keywords/>
  <dc:description>generated using python-pptx</dc:description>
  <cp:lastModifiedBy>Yingce Xia</cp:lastModifiedBy>
  <cp:revision>29</cp:revision>
  <dcterms:created xsi:type="dcterms:W3CDTF">2013-01-27T09:14:16Z</dcterms:created>
  <dcterms:modified xsi:type="dcterms:W3CDTF">2026-10-28T04:11:39Z</dcterms:modified>
  <cp:category/>
</cp:coreProperties>
</file>